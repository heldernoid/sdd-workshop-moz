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github.com/heldernoid/SDD-workshop-moz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40080" y="640080"/>
            <a:ext cx="411481" cy="41148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640080" y="737869"/>
            <a:ext cx="4114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640080" y="2128519"/>
            <a:ext cx="109728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6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Spec-Driven Development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40080" y="3362959"/>
            <a:ext cx="109728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800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 opencode, codex (e Claude Code)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40080" y="4421703"/>
            <a:ext cx="109728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EF3C7"/>
                </a:solidFill>
              </a:defRPr>
            </a:lvl1pPr>
          </a:lstStyle>
          <a:p>
            <a:pPr/>
            <a:r>
              <a:t>Vídeo + comunidade. Aprende ao teu ritmo, com apoio.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40080" y="4945819"/>
            <a:ext cx="10972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8A29E"/>
                </a:solidFill>
              </a:defRPr>
            </a:lvl1pPr>
          </a:lstStyle>
          <a:p>
            <a:pPr/>
            <a:r>
              <a:t>Material aberto. Para programadores e estudantes em Moçambique.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2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30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Porque é que este workshop existe</a:t>
            </a:r>
          </a:p>
        </p:txBody>
      </p:sp>
      <p:sp>
        <p:nvSpPr>
          <p:cNvPr id="31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5"/>
          <p:cNvSpPr/>
          <p:nvPr/>
        </p:nvSpPr>
        <p:spPr>
          <a:xfrm>
            <a:off x="640080" y="2468879"/>
            <a:ext cx="457201" cy="45720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6"/>
          <p:cNvSpPr txBox="1"/>
          <p:nvPr/>
        </p:nvSpPr>
        <p:spPr>
          <a:xfrm>
            <a:off x="640080" y="257682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" name="Text 7"/>
          <p:cNvSpPr txBox="1"/>
          <p:nvPr/>
        </p:nvSpPr>
        <p:spPr>
          <a:xfrm>
            <a:off x="1280160" y="2576656"/>
            <a:ext cx="100584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C1917"/>
                </a:solidFill>
              </a:defRPr>
            </a:lvl1pPr>
          </a:lstStyle>
          <a:p>
            <a:pPr/>
            <a:r>
              <a:t>Quase toda gente que usa IA para programar começa com prompts soltos</a:t>
            </a:r>
          </a:p>
        </p:txBody>
      </p:sp>
      <p:sp>
        <p:nvSpPr>
          <p:cNvPr id="35" name="Shape 8"/>
          <p:cNvSpPr/>
          <p:nvPr/>
        </p:nvSpPr>
        <p:spPr>
          <a:xfrm>
            <a:off x="640080" y="3246120"/>
            <a:ext cx="457201" cy="45720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9"/>
          <p:cNvSpPr txBox="1"/>
          <p:nvPr/>
        </p:nvSpPr>
        <p:spPr>
          <a:xfrm>
            <a:off x="640080" y="3354070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Text 10"/>
          <p:cNvSpPr txBox="1"/>
          <p:nvPr/>
        </p:nvSpPr>
        <p:spPr>
          <a:xfrm>
            <a:off x="1280160" y="3353896"/>
            <a:ext cx="100584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C1917"/>
                </a:solidFill>
              </a:defRPr>
            </a:lvl1pPr>
          </a:lstStyle>
          <a:p>
            <a:pPr/>
            <a:r>
              <a:t>O resultado é código sem direcção, dívida técnica desde o primeiro dia</a:t>
            </a:r>
          </a:p>
        </p:txBody>
      </p:sp>
      <p:sp>
        <p:nvSpPr>
          <p:cNvPr id="38" name="Shape 11"/>
          <p:cNvSpPr/>
          <p:nvPr/>
        </p:nvSpPr>
        <p:spPr>
          <a:xfrm>
            <a:off x="640080" y="4023359"/>
            <a:ext cx="457201" cy="45720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2"/>
          <p:cNvSpPr txBox="1"/>
          <p:nvPr/>
        </p:nvSpPr>
        <p:spPr>
          <a:xfrm>
            <a:off x="640080" y="413130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" name="Text 13"/>
          <p:cNvSpPr txBox="1"/>
          <p:nvPr/>
        </p:nvSpPr>
        <p:spPr>
          <a:xfrm>
            <a:off x="1280160" y="4131136"/>
            <a:ext cx="100584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C1917"/>
                </a:solidFill>
              </a:defRPr>
            </a:lvl1pPr>
          </a:lstStyle>
          <a:p>
            <a:pPr/>
            <a:r>
              <a:t>A diferença entre amador e profissional é PRIMEIRO especificar.</a:t>
            </a:r>
          </a:p>
        </p:txBody>
      </p:sp>
      <p:sp>
        <p:nvSpPr>
          <p:cNvPr id="41" name="Shape 14"/>
          <p:cNvSpPr/>
          <p:nvPr/>
        </p:nvSpPr>
        <p:spPr>
          <a:xfrm>
            <a:off x="640080" y="4800600"/>
            <a:ext cx="457201" cy="457200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5"/>
          <p:cNvSpPr txBox="1"/>
          <p:nvPr/>
        </p:nvSpPr>
        <p:spPr>
          <a:xfrm>
            <a:off x="640080" y="490854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1280160" y="4908376"/>
            <a:ext cx="100584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C1917"/>
                </a:solidFill>
              </a:defRPr>
            </a:lvl1pPr>
          </a:lstStyle>
          <a:p>
            <a:pPr/>
            <a:r>
              <a:t>Aqui aprendemos o fluxo: spec em primeiro, código depois</a:t>
            </a:r>
          </a:p>
        </p:txBody>
      </p:sp>
      <p:sp>
        <p:nvSpPr>
          <p:cNvPr id="44" name="Text 17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49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Dois LLMs: arquitecto e executor</a:t>
            </a:r>
          </a:p>
        </p:txBody>
      </p:sp>
      <p:sp>
        <p:nvSpPr>
          <p:cNvPr id="50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5"/>
          <p:cNvSpPr/>
          <p:nvPr/>
        </p:nvSpPr>
        <p:spPr>
          <a:xfrm>
            <a:off x="640080" y="2468879"/>
            <a:ext cx="5212080" cy="3657601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Shape 6"/>
          <p:cNvSpPr/>
          <p:nvPr/>
        </p:nvSpPr>
        <p:spPr>
          <a:xfrm>
            <a:off x="640080" y="2468879"/>
            <a:ext cx="5212080" cy="73153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7"/>
          <p:cNvSpPr txBox="1"/>
          <p:nvPr/>
        </p:nvSpPr>
        <p:spPr>
          <a:xfrm>
            <a:off x="868680" y="276610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A67C00"/>
                </a:solidFill>
              </a:defRPr>
            </a:lvl1pPr>
          </a:lstStyle>
          <a:p>
            <a:pPr/>
            <a:r>
              <a:t>ARQUITECTO</a:t>
            </a:r>
          </a:p>
        </p:txBody>
      </p:sp>
      <p:sp>
        <p:nvSpPr>
          <p:cNvPr id="54" name="Text 8"/>
          <p:cNvSpPr txBox="1"/>
          <p:nvPr/>
        </p:nvSpPr>
        <p:spPr>
          <a:xfrm>
            <a:off x="868680" y="3041650"/>
            <a:ext cx="475488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Claude (chat), ChatGPT, Gemini</a:t>
            </a:r>
          </a:p>
        </p:txBody>
      </p:sp>
      <p:sp>
        <p:nvSpPr>
          <p:cNvPr id="55" name="Text 9"/>
          <p:cNvSpPr txBox="1"/>
          <p:nvPr/>
        </p:nvSpPr>
        <p:spPr>
          <a:xfrm>
            <a:off x="868680" y="4336219"/>
            <a:ext cx="4754880" cy="928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Conversas iterativas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Faz perguntas, refina contexto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Gera DESIGN, ARCHITECTURE, PLAN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Cria mocks HTML para validação</a:t>
            </a:r>
          </a:p>
        </p:txBody>
      </p:sp>
      <p:sp>
        <p:nvSpPr>
          <p:cNvPr id="56" name="Text 10"/>
          <p:cNvSpPr txBox="1"/>
          <p:nvPr/>
        </p:nvSpPr>
        <p:spPr>
          <a:xfrm>
            <a:off x="5943600" y="4068732"/>
            <a:ext cx="548641" cy="457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D4A017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7" name="Shape 11"/>
          <p:cNvSpPr/>
          <p:nvPr/>
        </p:nvSpPr>
        <p:spPr>
          <a:xfrm>
            <a:off x="6492240" y="2468879"/>
            <a:ext cx="5212081" cy="3657601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Shape 12"/>
          <p:cNvSpPr/>
          <p:nvPr/>
        </p:nvSpPr>
        <p:spPr>
          <a:xfrm>
            <a:off x="6492240" y="2468879"/>
            <a:ext cx="5212081" cy="73153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3"/>
          <p:cNvSpPr txBox="1"/>
          <p:nvPr/>
        </p:nvSpPr>
        <p:spPr>
          <a:xfrm>
            <a:off x="6720840" y="276610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0F766E"/>
                </a:solidFill>
              </a:defRPr>
            </a:lvl1pPr>
          </a:lstStyle>
          <a:p>
            <a:pPr/>
            <a:r>
              <a:t>EXECUTOR</a:t>
            </a:r>
          </a:p>
        </p:txBody>
      </p:sp>
      <p:sp>
        <p:nvSpPr>
          <p:cNvPr id="60" name="Text 14"/>
          <p:cNvSpPr txBox="1"/>
          <p:nvPr/>
        </p:nvSpPr>
        <p:spPr>
          <a:xfrm>
            <a:off x="6720840" y="3041650"/>
            <a:ext cx="47548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Claude Code, opencode, codex</a:t>
            </a:r>
          </a:p>
        </p:txBody>
      </p:sp>
      <p:sp>
        <p:nvSpPr>
          <p:cNvPr id="61" name="Text 15"/>
          <p:cNvSpPr txBox="1"/>
          <p:nvPr/>
        </p:nvSpPr>
        <p:spPr>
          <a:xfrm>
            <a:off x="6720840" y="4336219"/>
            <a:ext cx="4754881" cy="928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Recebe a pasta inteira de specs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Lê os ficheiros .md por ordem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Implementa parte a parte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44403C"/>
                </a:solidFill>
              </a:defRPr>
            </a:pPr>
            <a:r>
              <a:t>Pára em cada Checkpoint para revisão</a:t>
            </a:r>
          </a:p>
        </p:txBody>
      </p:sp>
      <p:sp>
        <p:nvSpPr>
          <p:cNvPr id="62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6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7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Anatomia de um spec-kit</a:t>
            </a:r>
          </a:p>
        </p:txBody>
      </p:sp>
      <p:sp>
        <p:nvSpPr>
          <p:cNvPr id="68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5"/>
          <p:cNvSpPr/>
          <p:nvPr/>
        </p:nvSpPr>
        <p:spPr>
          <a:xfrm>
            <a:off x="640079" y="2377439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6"/>
          <p:cNvSpPr/>
          <p:nvPr/>
        </p:nvSpPr>
        <p:spPr>
          <a:xfrm>
            <a:off x="640080" y="2377439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7"/>
          <p:cNvSpPr txBox="1"/>
          <p:nvPr/>
        </p:nvSpPr>
        <p:spPr>
          <a:xfrm>
            <a:off x="868680" y="250266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AGENTS.md</a:t>
            </a:r>
          </a:p>
        </p:txBody>
      </p:sp>
      <p:sp>
        <p:nvSpPr>
          <p:cNvPr id="72" name="Text 8"/>
          <p:cNvSpPr txBox="1"/>
          <p:nvPr/>
        </p:nvSpPr>
        <p:spPr>
          <a:xfrm>
            <a:off x="868680" y="2900094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Regras curtas para o agente. É a primeira coisa lida.</a:t>
            </a:r>
          </a:p>
        </p:txBody>
      </p:sp>
      <p:sp>
        <p:nvSpPr>
          <p:cNvPr id="73" name="Shape 9"/>
          <p:cNvSpPr/>
          <p:nvPr/>
        </p:nvSpPr>
        <p:spPr>
          <a:xfrm>
            <a:off x="6309359" y="2377439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0"/>
          <p:cNvSpPr/>
          <p:nvPr/>
        </p:nvSpPr>
        <p:spPr>
          <a:xfrm>
            <a:off x="6309359" y="2377439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1"/>
          <p:cNvSpPr txBox="1"/>
          <p:nvPr/>
        </p:nvSpPr>
        <p:spPr>
          <a:xfrm>
            <a:off x="6537959" y="250266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ARCHITECTURE.md</a:t>
            </a:r>
          </a:p>
        </p:txBody>
      </p:sp>
      <p:sp>
        <p:nvSpPr>
          <p:cNvPr id="76" name="Text 12"/>
          <p:cNvSpPr txBox="1"/>
          <p:nvPr/>
        </p:nvSpPr>
        <p:spPr>
          <a:xfrm>
            <a:off x="6537959" y="2900094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Stack, estrutura de pastas, modelo de dados, APIs.</a:t>
            </a:r>
          </a:p>
        </p:txBody>
      </p:sp>
      <p:sp>
        <p:nvSpPr>
          <p:cNvPr id="77" name="Shape 13"/>
          <p:cNvSpPr/>
          <p:nvPr/>
        </p:nvSpPr>
        <p:spPr>
          <a:xfrm>
            <a:off x="640079" y="3337559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14"/>
          <p:cNvSpPr/>
          <p:nvPr/>
        </p:nvSpPr>
        <p:spPr>
          <a:xfrm>
            <a:off x="640080" y="3337559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5"/>
          <p:cNvSpPr txBox="1"/>
          <p:nvPr/>
        </p:nvSpPr>
        <p:spPr>
          <a:xfrm>
            <a:off x="868680" y="346278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DESIGN.md</a:t>
            </a:r>
          </a:p>
        </p:txBody>
      </p:sp>
      <p:sp>
        <p:nvSpPr>
          <p:cNvPr id="80" name="Text 16"/>
          <p:cNvSpPr txBox="1"/>
          <p:nvPr/>
        </p:nvSpPr>
        <p:spPr>
          <a:xfrm>
            <a:off x="868680" y="3860214"/>
            <a:ext cx="5029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Tokens, paleta, tipografia, componentes.</a:t>
            </a:r>
          </a:p>
        </p:txBody>
      </p:sp>
      <p:sp>
        <p:nvSpPr>
          <p:cNvPr id="81" name="Shape 17"/>
          <p:cNvSpPr/>
          <p:nvPr/>
        </p:nvSpPr>
        <p:spPr>
          <a:xfrm>
            <a:off x="6309359" y="3337559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8"/>
          <p:cNvSpPr/>
          <p:nvPr/>
        </p:nvSpPr>
        <p:spPr>
          <a:xfrm>
            <a:off x="6309359" y="3337559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9"/>
          <p:cNvSpPr txBox="1"/>
          <p:nvPr/>
        </p:nvSpPr>
        <p:spPr>
          <a:xfrm>
            <a:off x="6537959" y="346278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DESIGN-SPECS.md</a:t>
            </a:r>
          </a:p>
        </p:txBody>
      </p:sp>
      <p:sp>
        <p:nvSpPr>
          <p:cNvPr id="84" name="Text 20"/>
          <p:cNvSpPr txBox="1"/>
          <p:nvPr/>
        </p:nvSpPr>
        <p:spPr>
          <a:xfrm>
            <a:off x="6537959" y="3860214"/>
            <a:ext cx="5029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Specs detalhadas por vista, ligadas aos mocks.</a:t>
            </a:r>
          </a:p>
        </p:txBody>
      </p:sp>
      <p:sp>
        <p:nvSpPr>
          <p:cNvPr id="85" name="Shape 21"/>
          <p:cNvSpPr/>
          <p:nvPr/>
        </p:nvSpPr>
        <p:spPr>
          <a:xfrm>
            <a:off x="640079" y="4297679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22"/>
          <p:cNvSpPr/>
          <p:nvPr/>
        </p:nvSpPr>
        <p:spPr>
          <a:xfrm>
            <a:off x="640080" y="4297679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23"/>
          <p:cNvSpPr txBox="1"/>
          <p:nvPr/>
        </p:nvSpPr>
        <p:spPr>
          <a:xfrm>
            <a:off x="868680" y="442290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PLAN.md</a:t>
            </a:r>
          </a:p>
        </p:txBody>
      </p:sp>
      <p:sp>
        <p:nvSpPr>
          <p:cNvPr id="88" name="Text 24"/>
          <p:cNvSpPr txBox="1"/>
          <p:nvPr/>
        </p:nvSpPr>
        <p:spPr>
          <a:xfrm>
            <a:off x="868680" y="4820334"/>
            <a:ext cx="5029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Plano por Parts, cada uma com Checkpoint.</a:t>
            </a:r>
          </a:p>
        </p:txBody>
      </p:sp>
      <p:sp>
        <p:nvSpPr>
          <p:cNvPr id="89" name="Shape 25"/>
          <p:cNvSpPr/>
          <p:nvPr/>
        </p:nvSpPr>
        <p:spPr>
          <a:xfrm>
            <a:off x="6309359" y="4297679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26"/>
          <p:cNvSpPr/>
          <p:nvPr/>
        </p:nvSpPr>
        <p:spPr>
          <a:xfrm>
            <a:off x="6309359" y="4297679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27"/>
          <p:cNvSpPr txBox="1"/>
          <p:nvPr/>
        </p:nvSpPr>
        <p:spPr>
          <a:xfrm>
            <a:off x="6537959" y="442290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design-mocks/</a:t>
            </a:r>
          </a:p>
        </p:txBody>
      </p:sp>
      <p:sp>
        <p:nvSpPr>
          <p:cNvPr id="92" name="Text 28"/>
          <p:cNvSpPr txBox="1"/>
          <p:nvPr/>
        </p:nvSpPr>
        <p:spPr>
          <a:xfrm>
            <a:off x="6537959" y="4820334"/>
            <a:ext cx="5029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HTML self-contained, navegáveis entre si.</a:t>
            </a:r>
          </a:p>
        </p:txBody>
      </p:sp>
      <p:sp>
        <p:nvSpPr>
          <p:cNvPr id="93" name="Shape 29"/>
          <p:cNvSpPr/>
          <p:nvPr/>
        </p:nvSpPr>
        <p:spPr>
          <a:xfrm>
            <a:off x="640079" y="5257800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30"/>
          <p:cNvSpPr/>
          <p:nvPr/>
        </p:nvSpPr>
        <p:spPr>
          <a:xfrm>
            <a:off x="640080" y="5257800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1"/>
          <p:cNvSpPr txBox="1"/>
          <p:nvPr/>
        </p:nvSpPr>
        <p:spPr>
          <a:xfrm>
            <a:off x="868680" y="538302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sample-data/</a:t>
            </a:r>
          </a:p>
        </p:txBody>
      </p:sp>
      <p:sp>
        <p:nvSpPr>
          <p:cNvPr id="96" name="Text 32"/>
          <p:cNvSpPr txBox="1"/>
          <p:nvPr/>
        </p:nvSpPr>
        <p:spPr>
          <a:xfrm>
            <a:off x="868680" y="5780454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Dados realistas para dev offline.</a:t>
            </a:r>
          </a:p>
        </p:txBody>
      </p:sp>
      <p:sp>
        <p:nvSpPr>
          <p:cNvPr id="97" name="Shape 33"/>
          <p:cNvSpPr/>
          <p:nvPr/>
        </p:nvSpPr>
        <p:spPr>
          <a:xfrm>
            <a:off x="6309359" y="5257800"/>
            <a:ext cx="5394962" cy="82296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34"/>
          <p:cNvSpPr/>
          <p:nvPr/>
        </p:nvSpPr>
        <p:spPr>
          <a:xfrm>
            <a:off x="6309359" y="5257800"/>
            <a:ext cx="73153" cy="8229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35"/>
          <p:cNvSpPr txBox="1"/>
          <p:nvPr/>
        </p:nvSpPr>
        <p:spPr>
          <a:xfrm>
            <a:off x="6537959" y="5383022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skills/</a:t>
            </a:r>
          </a:p>
        </p:txBody>
      </p:sp>
      <p:sp>
        <p:nvSpPr>
          <p:cNvPr id="100" name="Text 36"/>
          <p:cNvSpPr txBox="1"/>
          <p:nvPr/>
        </p:nvSpPr>
        <p:spPr>
          <a:xfrm>
            <a:off x="6537959" y="5780454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Conhecimento estruturado reutilizável.</a:t>
            </a:r>
          </a:p>
        </p:txBody>
      </p:sp>
      <p:sp>
        <p:nvSpPr>
          <p:cNvPr id="101" name="Text 37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05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06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Como aproveitar este material</a:t>
            </a:r>
          </a:p>
        </p:txBody>
      </p:sp>
      <p:sp>
        <p:nvSpPr>
          <p:cNvPr id="107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5"/>
          <p:cNvSpPr/>
          <p:nvPr/>
        </p:nvSpPr>
        <p:spPr>
          <a:xfrm>
            <a:off x="640080" y="2468879"/>
            <a:ext cx="1554481" cy="548641"/>
          </a:xfrm>
          <a:prstGeom prst="rect">
            <a:avLst/>
          </a:prstGeom>
          <a:solidFill>
            <a:srgbClr val="FEF3C7"/>
          </a:solidFill>
          <a:ln w="6350">
            <a:solidFill>
              <a:srgbClr val="FDE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6"/>
          <p:cNvSpPr txBox="1"/>
          <p:nvPr/>
        </p:nvSpPr>
        <p:spPr>
          <a:xfrm>
            <a:off x="640080" y="2654300"/>
            <a:ext cx="15544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VÍDEO</a:t>
            </a:r>
          </a:p>
        </p:txBody>
      </p:sp>
      <p:sp>
        <p:nvSpPr>
          <p:cNvPr id="110" name="Text 7"/>
          <p:cNvSpPr txBox="1"/>
          <p:nvPr/>
        </p:nvSpPr>
        <p:spPr>
          <a:xfrm>
            <a:off x="2377439" y="2638623"/>
            <a:ext cx="9144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30 min com capítulos no YouTube</a:t>
            </a:r>
          </a:p>
        </p:txBody>
      </p:sp>
      <p:sp>
        <p:nvSpPr>
          <p:cNvPr id="111" name="Shape 8"/>
          <p:cNvSpPr/>
          <p:nvPr/>
        </p:nvSpPr>
        <p:spPr>
          <a:xfrm>
            <a:off x="640080" y="3154679"/>
            <a:ext cx="1554481" cy="548641"/>
          </a:xfrm>
          <a:prstGeom prst="rect">
            <a:avLst/>
          </a:prstGeom>
          <a:solidFill>
            <a:srgbClr val="FEF3C7"/>
          </a:solidFill>
          <a:ln w="6350">
            <a:solidFill>
              <a:srgbClr val="FDE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9"/>
          <p:cNvSpPr txBox="1"/>
          <p:nvPr/>
        </p:nvSpPr>
        <p:spPr>
          <a:xfrm>
            <a:off x="640080" y="3340100"/>
            <a:ext cx="15544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GITHUB</a:t>
            </a:r>
          </a:p>
        </p:txBody>
      </p:sp>
      <p:sp>
        <p:nvSpPr>
          <p:cNvPr id="113" name="Text 10"/>
          <p:cNvSpPr txBox="1"/>
          <p:nvPr/>
        </p:nvSpPr>
        <p:spPr>
          <a:xfrm>
            <a:off x="2377439" y="3324423"/>
            <a:ext cx="9144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Specs, skills, mocks, dados — tudo aberto</a:t>
            </a:r>
          </a:p>
        </p:txBody>
      </p:sp>
      <p:sp>
        <p:nvSpPr>
          <p:cNvPr id="114" name="Shape 11"/>
          <p:cNvSpPr/>
          <p:nvPr/>
        </p:nvSpPr>
        <p:spPr>
          <a:xfrm>
            <a:off x="640080" y="3840479"/>
            <a:ext cx="1554481" cy="548641"/>
          </a:xfrm>
          <a:prstGeom prst="rect">
            <a:avLst/>
          </a:prstGeom>
          <a:solidFill>
            <a:srgbClr val="FEF3C7"/>
          </a:solidFill>
          <a:ln w="6350">
            <a:solidFill>
              <a:srgbClr val="FDE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2"/>
          <p:cNvSpPr txBox="1"/>
          <p:nvPr/>
        </p:nvSpPr>
        <p:spPr>
          <a:xfrm>
            <a:off x="640080" y="4025900"/>
            <a:ext cx="15544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WHATSAPP</a:t>
            </a:r>
          </a:p>
        </p:txBody>
      </p:sp>
      <p:sp>
        <p:nvSpPr>
          <p:cNvPr id="116" name="Text 13"/>
          <p:cNvSpPr txBox="1"/>
          <p:nvPr/>
        </p:nvSpPr>
        <p:spPr>
          <a:xfrm>
            <a:off x="2377439" y="4010223"/>
            <a:ext cx="9144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Comunidade, dúvidas, partilha de projectos</a:t>
            </a:r>
          </a:p>
        </p:txBody>
      </p:sp>
      <p:sp>
        <p:nvSpPr>
          <p:cNvPr id="117" name="Shape 14"/>
          <p:cNvSpPr/>
          <p:nvPr/>
        </p:nvSpPr>
        <p:spPr>
          <a:xfrm>
            <a:off x="640080" y="4526279"/>
            <a:ext cx="1554481" cy="548641"/>
          </a:xfrm>
          <a:prstGeom prst="rect">
            <a:avLst/>
          </a:prstGeom>
          <a:solidFill>
            <a:srgbClr val="FEF3C7"/>
          </a:solidFill>
          <a:ln w="6350">
            <a:solidFill>
              <a:srgbClr val="FDE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5"/>
          <p:cNvSpPr txBox="1"/>
          <p:nvPr/>
        </p:nvSpPr>
        <p:spPr>
          <a:xfrm>
            <a:off x="640080" y="4711700"/>
            <a:ext cx="15544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API KEY</a:t>
            </a:r>
          </a:p>
        </p:txBody>
      </p:sp>
      <p:sp>
        <p:nvSpPr>
          <p:cNvPr id="119" name="Text 16"/>
          <p:cNvSpPr txBox="1"/>
          <p:nvPr/>
        </p:nvSpPr>
        <p:spPr>
          <a:xfrm>
            <a:off x="2377439" y="4696023"/>
            <a:ext cx="9144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Período limitado anunciado no grupo</a:t>
            </a:r>
          </a:p>
        </p:txBody>
      </p:sp>
      <p:sp>
        <p:nvSpPr>
          <p:cNvPr id="120" name="Shape 17"/>
          <p:cNvSpPr/>
          <p:nvPr/>
        </p:nvSpPr>
        <p:spPr>
          <a:xfrm>
            <a:off x="640080" y="5212079"/>
            <a:ext cx="1554481" cy="548641"/>
          </a:xfrm>
          <a:prstGeom prst="rect">
            <a:avLst/>
          </a:prstGeom>
          <a:solidFill>
            <a:srgbClr val="FEF3C7"/>
          </a:solidFill>
          <a:ln w="6350">
            <a:solidFill>
              <a:srgbClr val="FDE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8"/>
          <p:cNvSpPr txBox="1"/>
          <p:nvPr/>
        </p:nvSpPr>
        <p:spPr>
          <a:xfrm>
            <a:off x="640080" y="5397500"/>
            <a:ext cx="15544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LLAMACPP</a:t>
            </a:r>
          </a:p>
        </p:txBody>
      </p:sp>
      <p:sp>
        <p:nvSpPr>
          <p:cNvPr id="122" name="Text 19"/>
          <p:cNvSpPr txBox="1"/>
          <p:nvPr/>
        </p:nvSpPr>
        <p:spPr>
          <a:xfrm>
            <a:off x="2377439" y="5381823"/>
            <a:ext cx="9144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Endpoint partilhado em janelas anunciadas</a:t>
            </a:r>
          </a:p>
        </p:txBody>
      </p:sp>
      <p:sp>
        <p:nvSpPr>
          <p:cNvPr id="123" name="Text 20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5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2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28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LlamaCPP: o brain local do workshop</a:t>
            </a:r>
          </a:p>
        </p:txBody>
      </p:sp>
      <p:sp>
        <p:nvSpPr>
          <p:cNvPr id="129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5"/>
          <p:cNvSpPr txBox="1"/>
          <p:nvPr/>
        </p:nvSpPr>
        <p:spPr>
          <a:xfrm>
            <a:off x="640080" y="2374463"/>
            <a:ext cx="64008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Endpoint LlamaCPP partilhado via Cloudflare tunnel, em janelas anunciadas no grupo.</a:t>
            </a:r>
          </a:p>
        </p:txBody>
      </p:sp>
      <p:sp>
        <p:nvSpPr>
          <p:cNvPr id="131" name="Text 6"/>
          <p:cNvSpPr txBox="1"/>
          <p:nvPr/>
        </p:nvSpPr>
        <p:spPr>
          <a:xfrm>
            <a:off x="640080" y="3735640"/>
            <a:ext cx="6400801" cy="1306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Compatível com OpenAI Chat Completions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Um modelo apenas, partilhado entre utilizadores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Pedidos sequenciais, não paralelos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Grátis quando disponível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Anúncios e horários no grupo de WhatsApp</a:t>
            </a:r>
          </a:p>
        </p:txBody>
      </p:sp>
      <p:sp>
        <p:nvSpPr>
          <p:cNvPr id="132" name="Shape 7"/>
          <p:cNvSpPr/>
          <p:nvPr/>
        </p:nvSpPr>
        <p:spPr>
          <a:xfrm>
            <a:off x="7315200" y="2468879"/>
            <a:ext cx="4389121" cy="3657601"/>
          </a:xfrm>
          <a:prstGeom prst="rect">
            <a:avLst/>
          </a:prstGeom>
          <a:solidFill>
            <a:srgbClr val="1C19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8"/>
          <p:cNvSpPr txBox="1"/>
          <p:nvPr/>
        </p:nvSpPr>
        <p:spPr>
          <a:xfrm>
            <a:off x="7498080" y="2673350"/>
            <a:ext cx="4114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.env</a:t>
            </a:r>
          </a:p>
        </p:txBody>
      </p:sp>
      <p:sp>
        <p:nvSpPr>
          <p:cNvPr id="134" name="Text 9"/>
          <p:cNvSpPr txBox="1"/>
          <p:nvPr/>
        </p:nvSpPr>
        <p:spPr>
          <a:xfrm>
            <a:off x="7498080" y="3980179"/>
            <a:ext cx="4114801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LLM_PROVIDER=local</a:t>
            </a:r>
          </a:p>
          <a:p>
            <a:pPr>
              <a:spcBef>
                <a:spcPts val="200"/>
              </a:spcBef>
              <a:defRPr sz="1200">
                <a:solidFill>
                  <a:srgbClr val="FEF3C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WORKSHOP_LLM_BASE_URL=</a:t>
            </a:r>
          </a:p>
          <a:p>
            <a:pPr>
              <a:spcBef>
                <a:spcPts val="200"/>
              </a:spcBef>
              <a:defRPr sz="11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https://abc.trycloudflare.com/v1</a:t>
            </a:r>
            <a:endParaRPr sz="1200"/>
          </a:p>
          <a:p>
            <a:pPr>
              <a:spcBef>
                <a:spcPts val="200"/>
              </a:spcBef>
              <a:defRPr sz="800"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  <a:endParaRPr sz="1200"/>
          </a:p>
          <a:p>
            <a:pPr>
              <a:spcBef>
                <a:spcPts val="200"/>
              </a:spcBef>
              <a:defRPr b="1" sz="11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POST /chat/completions</a:t>
            </a:r>
            <a:endParaRPr sz="1200"/>
          </a:p>
          <a:p>
            <a:pPr>
              <a:spcBef>
                <a:spcPts val="200"/>
              </a:spcBef>
              <a:defRPr sz="1000">
                <a:solidFill>
                  <a:srgbClr val="E7E5E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{"messages":[...],"max_tokens":256}</a:t>
            </a:r>
          </a:p>
        </p:txBody>
      </p:sp>
      <p:sp>
        <p:nvSpPr>
          <p:cNvPr id="135" name="Text 10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3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40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OpenRouter: para iterar em casa</a:t>
            </a:r>
          </a:p>
        </p:txBody>
      </p:sp>
      <p:sp>
        <p:nvSpPr>
          <p:cNvPr id="141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5"/>
          <p:cNvSpPr txBox="1"/>
          <p:nvPr/>
        </p:nvSpPr>
        <p:spPr>
          <a:xfrm>
            <a:off x="640080" y="2501463"/>
            <a:ext cx="64008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C1917"/>
                </a:solidFill>
              </a:defRPr>
            </a:lvl1pPr>
          </a:lstStyle>
          <a:p>
            <a:pPr/>
            <a:r>
              <a:t>Para os teus projectos pessoais e portfolios, usa a tua conta OpenRouter.</a:t>
            </a:r>
          </a:p>
        </p:txBody>
      </p:sp>
      <p:sp>
        <p:nvSpPr>
          <p:cNvPr id="143" name="Text 6"/>
          <p:cNvSpPr txBox="1"/>
          <p:nvPr/>
        </p:nvSpPr>
        <p:spPr>
          <a:xfrm>
            <a:off x="640080" y="3861722"/>
            <a:ext cx="6400801" cy="105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Centenas de modelos numa só API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Modelo recomendado: </a:t>
            </a:r>
            <a:r>
              <a:rPr b="1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rPr>
              <a:t>mistralai/ministral-14b-2512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Custos típicos abaixo de 0.20 USD por projecto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400">
                <a:solidFill>
                  <a:srgbClr val="44403C"/>
                </a:solidFill>
              </a:defRPr>
            </a:pPr>
            <a:r>
              <a:t>API key temporária para experimentar, anunciada no grupo</a:t>
            </a:r>
          </a:p>
        </p:txBody>
      </p:sp>
      <p:sp>
        <p:nvSpPr>
          <p:cNvPr id="144" name="Shape 7"/>
          <p:cNvSpPr/>
          <p:nvPr/>
        </p:nvSpPr>
        <p:spPr>
          <a:xfrm>
            <a:off x="7315200" y="2468879"/>
            <a:ext cx="4389121" cy="3657601"/>
          </a:xfrm>
          <a:prstGeom prst="rect">
            <a:avLst/>
          </a:prstGeom>
          <a:solidFill>
            <a:srgbClr val="1C19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8"/>
          <p:cNvSpPr txBox="1"/>
          <p:nvPr/>
        </p:nvSpPr>
        <p:spPr>
          <a:xfrm>
            <a:off x="7498080" y="2673350"/>
            <a:ext cx="4114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.env</a:t>
            </a:r>
          </a:p>
        </p:txBody>
      </p:sp>
      <p:sp>
        <p:nvSpPr>
          <p:cNvPr id="146" name="Text 9"/>
          <p:cNvSpPr txBox="1"/>
          <p:nvPr/>
        </p:nvSpPr>
        <p:spPr>
          <a:xfrm>
            <a:off x="7498080" y="3903979"/>
            <a:ext cx="4114801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OPENROUTER_API_KEY=sk-or-v1-...</a:t>
            </a:r>
          </a:p>
          <a:p>
            <a:pPr>
              <a:spcBef>
                <a:spcPts val="200"/>
              </a:spcBef>
              <a:defRPr sz="1100">
                <a:solidFill>
                  <a:srgbClr val="FEF3C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OPENROUTER_MODEL=</a:t>
            </a:r>
          </a:p>
          <a:p>
            <a:pPr>
              <a:spcBef>
                <a:spcPts val="200"/>
              </a:spcBef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mistralai/ministral-14b-2512</a:t>
            </a:r>
            <a:endParaRPr sz="1100"/>
          </a:p>
          <a:p>
            <a:pPr>
              <a:spcBef>
                <a:spcPts val="200"/>
              </a:spcBef>
              <a:defRPr sz="800"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  <a:endParaRPr sz="1100"/>
          </a:p>
          <a:p>
            <a:pPr>
              <a:spcBef>
                <a:spcPts val="200"/>
              </a:spcBef>
              <a:defRPr b="1" sz="11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POST openrouter.ai/api/v1/</a:t>
            </a:r>
          </a:p>
          <a:p>
            <a:pPr>
              <a:spcBef>
                <a:spcPts val="200"/>
              </a:spcBef>
              <a:defRPr b="1" sz="11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chat/completions</a:t>
            </a:r>
          </a:p>
          <a:p>
            <a:pPr>
              <a:spcBef>
                <a:spcPts val="200"/>
              </a:spcBef>
              <a:defRPr sz="1000">
                <a:solidFill>
                  <a:srgbClr val="E7E5E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Authorization: Bearer $KEY</a:t>
            </a:r>
          </a:p>
        </p:txBody>
      </p:sp>
      <p:sp>
        <p:nvSpPr>
          <p:cNvPr id="147" name="Text 10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7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5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52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Dados do Banco de Moçambique</a:t>
            </a:r>
          </a:p>
        </p:txBody>
      </p:sp>
      <p:sp>
        <p:nvSpPr>
          <p:cNvPr id="153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5"/>
          <p:cNvSpPr txBox="1"/>
          <p:nvPr/>
        </p:nvSpPr>
        <p:spPr>
          <a:xfrm>
            <a:off x="640080" y="2501463"/>
            <a:ext cx="109728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78716C"/>
                </a:solidFill>
              </a:defRPr>
            </a:lvl1pPr>
          </a:lstStyle>
          <a:p>
            <a:pPr/>
            <a:r>
              <a:t>Sete endpoints públicos. Sem autenticação. Apenas XML.</a:t>
            </a:r>
          </a:p>
        </p:txBody>
      </p:sp>
      <p:sp>
        <p:nvSpPr>
          <p:cNvPr id="155" name="Text 6"/>
          <p:cNvSpPr txBox="1"/>
          <p:nvPr/>
        </p:nvSpPr>
        <p:spPr>
          <a:xfrm>
            <a:off x="640080" y="31114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/bmapi/exchangerates/</a:t>
            </a:r>
          </a:p>
        </p:txBody>
      </p:sp>
      <p:sp>
        <p:nvSpPr>
          <p:cNvPr id="156" name="Text 7"/>
          <p:cNvSpPr txBox="1"/>
          <p:nvPr/>
        </p:nvSpPr>
        <p:spPr>
          <a:xfrm>
            <a:off x="5303520" y="31170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Câmbio diário</a:t>
            </a:r>
          </a:p>
        </p:txBody>
      </p:sp>
      <p:sp>
        <p:nvSpPr>
          <p:cNvPr id="157" name="Shape 8"/>
          <p:cNvSpPr/>
          <p:nvPr/>
        </p:nvSpPr>
        <p:spPr>
          <a:xfrm>
            <a:off x="9601200" y="3063239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9"/>
          <p:cNvSpPr txBox="1"/>
          <p:nvPr/>
        </p:nvSpPr>
        <p:spPr>
          <a:xfrm>
            <a:off x="9601200" y="31242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22 moedas</a:t>
            </a:r>
          </a:p>
        </p:txBody>
      </p:sp>
      <p:sp>
        <p:nvSpPr>
          <p:cNvPr id="159" name="Text 10"/>
          <p:cNvSpPr txBox="1"/>
          <p:nvPr/>
        </p:nvSpPr>
        <p:spPr>
          <a:xfrm>
            <a:off x="640080" y="3568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/bmapi/exchangerates-weekly/</a:t>
            </a:r>
          </a:p>
        </p:txBody>
      </p:sp>
      <p:sp>
        <p:nvSpPr>
          <p:cNvPr id="160" name="Text 11"/>
          <p:cNvSpPr txBox="1"/>
          <p:nvPr/>
        </p:nvSpPr>
        <p:spPr>
          <a:xfrm>
            <a:off x="5303520" y="35742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Câmbio últimos 5 dias</a:t>
            </a:r>
          </a:p>
        </p:txBody>
      </p:sp>
      <p:sp>
        <p:nvSpPr>
          <p:cNvPr id="161" name="Shape 12"/>
          <p:cNvSpPr/>
          <p:nvPr/>
        </p:nvSpPr>
        <p:spPr>
          <a:xfrm>
            <a:off x="9601200" y="3520440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3"/>
          <p:cNvSpPr txBox="1"/>
          <p:nvPr/>
        </p:nvSpPr>
        <p:spPr>
          <a:xfrm>
            <a:off x="9601200" y="35814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5 datas</a:t>
            </a:r>
          </a:p>
        </p:txBody>
      </p:sp>
      <p:sp>
        <p:nvSpPr>
          <p:cNvPr id="163" name="Text 14"/>
          <p:cNvSpPr txBox="1"/>
          <p:nvPr/>
        </p:nvSpPr>
        <p:spPr>
          <a:xfrm>
            <a:off x="640080" y="40258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/bmapi/exchangerates-monthly/</a:t>
            </a:r>
          </a:p>
        </p:txBody>
      </p:sp>
      <p:sp>
        <p:nvSpPr>
          <p:cNvPr id="164" name="Text 15"/>
          <p:cNvSpPr txBox="1"/>
          <p:nvPr/>
        </p:nvSpPr>
        <p:spPr>
          <a:xfrm>
            <a:off x="5303520" y="40314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Câmbio últimos ~24 dias</a:t>
            </a:r>
          </a:p>
        </p:txBody>
      </p:sp>
      <p:sp>
        <p:nvSpPr>
          <p:cNvPr id="165" name="Shape 16"/>
          <p:cNvSpPr/>
          <p:nvPr/>
        </p:nvSpPr>
        <p:spPr>
          <a:xfrm>
            <a:off x="9601200" y="3977640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7"/>
          <p:cNvSpPr txBox="1"/>
          <p:nvPr/>
        </p:nvSpPr>
        <p:spPr>
          <a:xfrm>
            <a:off x="9601200" y="40386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 datas</a:t>
            </a:r>
          </a:p>
        </p:txBody>
      </p:sp>
      <p:sp>
        <p:nvSpPr>
          <p:cNvPr id="167" name="Text 18"/>
          <p:cNvSpPr txBox="1"/>
          <p:nvPr/>
        </p:nvSpPr>
        <p:spPr>
          <a:xfrm>
            <a:off x="640080" y="44830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/bmapi/inflation-rates/monthly/</a:t>
            </a:r>
          </a:p>
        </p:txBody>
      </p:sp>
      <p:sp>
        <p:nvSpPr>
          <p:cNvPr id="168" name="Text 19"/>
          <p:cNvSpPr txBox="1"/>
          <p:nvPr/>
        </p:nvSpPr>
        <p:spPr>
          <a:xfrm>
            <a:off x="5303520" y="44886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Inflação mensal</a:t>
            </a:r>
          </a:p>
        </p:txBody>
      </p:sp>
      <p:sp>
        <p:nvSpPr>
          <p:cNvPr id="169" name="Shape 20"/>
          <p:cNvSpPr/>
          <p:nvPr/>
        </p:nvSpPr>
        <p:spPr>
          <a:xfrm>
            <a:off x="9601200" y="4434840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1"/>
          <p:cNvSpPr txBox="1"/>
          <p:nvPr/>
        </p:nvSpPr>
        <p:spPr>
          <a:xfrm>
            <a:off x="9601200" y="44958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var. M-1</a:t>
            </a:r>
          </a:p>
        </p:txBody>
      </p:sp>
      <p:sp>
        <p:nvSpPr>
          <p:cNvPr id="171" name="Text 22"/>
          <p:cNvSpPr txBox="1"/>
          <p:nvPr/>
        </p:nvSpPr>
        <p:spPr>
          <a:xfrm>
            <a:off x="640080" y="49402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/bmapi/inflation-rates/yearly/</a:t>
            </a:r>
          </a:p>
        </p:txBody>
      </p:sp>
      <p:sp>
        <p:nvSpPr>
          <p:cNvPr id="172" name="Text 23"/>
          <p:cNvSpPr txBox="1"/>
          <p:nvPr/>
        </p:nvSpPr>
        <p:spPr>
          <a:xfrm>
            <a:off x="5303520" y="49458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Inflação homóloga</a:t>
            </a:r>
          </a:p>
        </p:txBody>
      </p:sp>
      <p:sp>
        <p:nvSpPr>
          <p:cNvPr id="173" name="Shape 24"/>
          <p:cNvSpPr/>
          <p:nvPr/>
        </p:nvSpPr>
        <p:spPr>
          <a:xfrm>
            <a:off x="9601200" y="4892040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25"/>
          <p:cNvSpPr txBox="1"/>
          <p:nvPr/>
        </p:nvSpPr>
        <p:spPr>
          <a:xfrm>
            <a:off x="9601200" y="49530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var. 12m</a:t>
            </a:r>
          </a:p>
        </p:txBody>
      </p:sp>
      <p:sp>
        <p:nvSpPr>
          <p:cNvPr id="175" name="Text 26"/>
          <p:cNvSpPr txBox="1"/>
          <p:nvPr/>
        </p:nvSpPr>
        <p:spPr>
          <a:xfrm>
            <a:off x="640080" y="53974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/bmapi/interest-rates/</a:t>
            </a:r>
          </a:p>
        </p:txBody>
      </p:sp>
      <p:sp>
        <p:nvSpPr>
          <p:cNvPr id="176" name="Text 27"/>
          <p:cNvSpPr txBox="1"/>
          <p:nvPr/>
        </p:nvSpPr>
        <p:spPr>
          <a:xfrm>
            <a:off x="5303520" y="54030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Mimo, FPC, FPD, Prime</a:t>
            </a:r>
          </a:p>
        </p:txBody>
      </p:sp>
      <p:sp>
        <p:nvSpPr>
          <p:cNvPr id="177" name="Shape 28"/>
          <p:cNvSpPr/>
          <p:nvPr/>
        </p:nvSpPr>
        <p:spPr>
          <a:xfrm>
            <a:off x="9601200" y="5349240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9"/>
          <p:cNvSpPr txBox="1"/>
          <p:nvPr/>
        </p:nvSpPr>
        <p:spPr>
          <a:xfrm>
            <a:off x="9601200" y="54102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snapshot</a:t>
            </a:r>
          </a:p>
        </p:txBody>
      </p:sp>
      <p:sp>
        <p:nvSpPr>
          <p:cNvPr id="179" name="Text 30"/>
          <p:cNvSpPr txBox="1"/>
          <p:nvPr/>
        </p:nvSpPr>
        <p:spPr>
          <a:xfrm>
            <a:off x="640080" y="5854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/bmapi/pib/</a:t>
            </a:r>
          </a:p>
        </p:txBody>
      </p:sp>
      <p:sp>
        <p:nvSpPr>
          <p:cNvPr id="180" name="Text 31"/>
          <p:cNvSpPr txBox="1"/>
          <p:nvPr/>
        </p:nvSpPr>
        <p:spPr>
          <a:xfrm>
            <a:off x="5303520" y="586021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917"/>
                </a:solidFill>
              </a:defRPr>
            </a:lvl1pPr>
          </a:lstStyle>
          <a:p>
            <a:pPr/>
            <a:r>
              <a:t>PIB trimestral</a:t>
            </a:r>
          </a:p>
        </p:txBody>
      </p:sp>
      <p:sp>
        <p:nvSpPr>
          <p:cNvPr id="181" name="Shape 32"/>
          <p:cNvSpPr/>
          <p:nvPr/>
        </p:nvSpPr>
        <p:spPr>
          <a:xfrm>
            <a:off x="9601200" y="5806440"/>
            <a:ext cx="1828800" cy="27432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33"/>
          <p:cNvSpPr txBox="1"/>
          <p:nvPr/>
        </p:nvSpPr>
        <p:spPr>
          <a:xfrm>
            <a:off x="9601200" y="5867400"/>
            <a:ext cx="18288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YYYYTN</a:t>
            </a:r>
          </a:p>
        </p:txBody>
      </p:sp>
      <p:sp>
        <p:nvSpPr>
          <p:cNvPr id="183" name="Text 34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8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88" name="Text 3"/>
          <p:cNvSpPr txBox="1"/>
          <p:nvPr/>
        </p:nvSpPr>
        <p:spPr>
          <a:xfrm>
            <a:off x="457199" y="1156969"/>
            <a:ext cx="1124712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00"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Nove skills no pacote</a:t>
            </a:r>
          </a:p>
        </p:txBody>
      </p:sp>
      <p:sp>
        <p:nvSpPr>
          <p:cNvPr id="189" name="Shape 4"/>
          <p:cNvSpPr/>
          <p:nvPr/>
        </p:nvSpPr>
        <p:spPr>
          <a:xfrm>
            <a:off x="457200" y="1783079"/>
            <a:ext cx="365761" cy="36577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5"/>
          <p:cNvSpPr/>
          <p:nvPr/>
        </p:nvSpPr>
        <p:spPr>
          <a:xfrm>
            <a:off x="640080" y="2468879"/>
            <a:ext cx="73153" cy="41148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6"/>
          <p:cNvSpPr txBox="1"/>
          <p:nvPr/>
        </p:nvSpPr>
        <p:spPr>
          <a:xfrm>
            <a:off x="868680" y="2607485"/>
            <a:ext cx="3657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D4A017"/>
                </a:solidFill>
              </a:defRPr>
            </a:lvl1pPr>
          </a:lstStyle>
          <a:p>
            <a:pPr/>
            <a:r>
              <a:t>LLM BRAIN</a:t>
            </a:r>
          </a:p>
        </p:txBody>
      </p:sp>
      <p:sp>
        <p:nvSpPr>
          <p:cNvPr id="192" name="Shape 7"/>
          <p:cNvSpPr/>
          <p:nvPr/>
        </p:nvSpPr>
        <p:spPr>
          <a:xfrm>
            <a:off x="868680" y="297180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8"/>
          <p:cNvSpPr txBox="1"/>
          <p:nvPr/>
        </p:nvSpPr>
        <p:spPr>
          <a:xfrm>
            <a:off x="1005839" y="314070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llm-openrouter</a:t>
            </a:r>
          </a:p>
        </p:txBody>
      </p:sp>
      <p:sp>
        <p:nvSpPr>
          <p:cNvPr id="194" name="Shape 9"/>
          <p:cNvSpPr/>
          <p:nvPr/>
        </p:nvSpPr>
        <p:spPr>
          <a:xfrm>
            <a:off x="3611879" y="2971800"/>
            <a:ext cx="260604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0"/>
          <p:cNvSpPr txBox="1"/>
          <p:nvPr/>
        </p:nvSpPr>
        <p:spPr>
          <a:xfrm>
            <a:off x="3749040" y="314070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llm-llamacpp</a:t>
            </a:r>
          </a:p>
        </p:txBody>
      </p:sp>
      <p:sp>
        <p:nvSpPr>
          <p:cNvPr id="196" name="Shape 11"/>
          <p:cNvSpPr/>
          <p:nvPr/>
        </p:nvSpPr>
        <p:spPr>
          <a:xfrm>
            <a:off x="6355079" y="2971800"/>
            <a:ext cx="260604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2"/>
          <p:cNvSpPr txBox="1"/>
          <p:nvPr/>
        </p:nvSpPr>
        <p:spPr>
          <a:xfrm>
            <a:off x="6492240" y="314070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llm-prompting-patterns</a:t>
            </a:r>
          </a:p>
        </p:txBody>
      </p:sp>
      <p:sp>
        <p:nvSpPr>
          <p:cNvPr id="198" name="Shape 13"/>
          <p:cNvSpPr/>
          <p:nvPr/>
        </p:nvSpPr>
        <p:spPr>
          <a:xfrm>
            <a:off x="640080" y="3749040"/>
            <a:ext cx="73153" cy="41148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4"/>
          <p:cNvSpPr txBox="1"/>
          <p:nvPr/>
        </p:nvSpPr>
        <p:spPr>
          <a:xfrm>
            <a:off x="868680" y="3887646"/>
            <a:ext cx="3657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0F766E"/>
                </a:solidFill>
              </a:defRPr>
            </a:lvl1pPr>
          </a:lstStyle>
          <a:p>
            <a:pPr/>
            <a:r>
              <a:t>DADOS MOZ</a:t>
            </a:r>
          </a:p>
        </p:txBody>
      </p:sp>
      <p:sp>
        <p:nvSpPr>
          <p:cNvPr id="200" name="Shape 15"/>
          <p:cNvSpPr/>
          <p:nvPr/>
        </p:nvSpPr>
        <p:spPr>
          <a:xfrm>
            <a:off x="868680" y="4251959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6"/>
          <p:cNvSpPr txBox="1"/>
          <p:nvPr/>
        </p:nvSpPr>
        <p:spPr>
          <a:xfrm>
            <a:off x="1005839" y="442086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bcm-data</a:t>
            </a:r>
          </a:p>
        </p:txBody>
      </p:sp>
      <p:sp>
        <p:nvSpPr>
          <p:cNvPr id="202" name="Shape 17"/>
          <p:cNvSpPr/>
          <p:nvPr/>
        </p:nvSpPr>
        <p:spPr>
          <a:xfrm>
            <a:off x="3611879" y="4251959"/>
            <a:ext cx="260604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18"/>
          <p:cNvSpPr txBox="1"/>
          <p:nvPr/>
        </p:nvSpPr>
        <p:spPr>
          <a:xfrm>
            <a:off x="3749040" y="442086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nuit-validation</a:t>
            </a:r>
          </a:p>
        </p:txBody>
      </p:sp>
      <p:sp>
        <p:nvSpPr>
          <p:cNvPr id="204" name="Shape 19"/>
          <p:cNvSpPr/>
          <p:nvPr/>
        </p:nvSpPr>
        <p:spPr>
          <a:xfrm>
            <a:off x="6355079" y="4251959"/>
            <a:ext cx="260604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20"/>
          <p:cNvSpPr txBox="1"/>
          <p:nvPr/>
        </p:nvSpPr>
        <p:spPr>
          <a:xfrm>
            <a:off x="6492240" y="442086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irps-calculator</a:t>
            </a:r>
          </a:p>
        </p:txBody>
      </p:sp>
      <p:sp>
        <p:nvSpPr>
          <p:cNvPr id="206" name="Shape 21"/>
          <p:cNvSpPr/>
          <p:nvPr/>
        </p:nvSpPr>
        <p:spPr>
          <a:xfrm>
            <a:off x="9098280" y="4251959"/>
            <a:ext cx="260604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22"/>
          <p:cNvSpPr txBox="1"/>
          <p:nvPr/>
        </p:nvSpPr>
        <p:spPr>
          <a:xfrm>
            <a:off x="9235440" y="442086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mzn-formatting</a:t>
            </a:r>
          </a:p>
        </p:txBody>
      </p:sp>
      <p:sp>
        <p:nvSpPr>
          <p:cNvPr id="208" name="Shape 23"/>
          <p:cNvSpPr/>
          <p:nvPr/>
        </p:nvSpPr>
        <p:spPr>
          <a:xfrm>
            <a:off x="640080" y="5029200"/>
            <a:ext cx="73153" cy="411481"/>
          </a:xfrm>
          <a:prstGeom prst="rect">
            <a:avLst/>
          </a:prstGeom>
          <a:solidFill>
            <a:srgbClr val="C1351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4"/>
          <p:cNvSpPr txBox="1"/>
          <p:nvPr/>
        </p:nvSpPr>
        <p:spPr>
          <a:xfrm>
            <a:off x="868680" y="5167806"/>
            <a:ext cx="3657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C13515"/>
                </a:solidFill>
              </a:defRPr>
            </a:lvl1pPr>
          </a:lstStyle>
          <a:p>
            <a:pPr/>
            <a:r>
              <a:t>WORKFLOW</a:t>
            </a:r>
          </a:p>
        </p:txBody>
      </p:sp>
      <p:sp>
        <p:nvSpPr>
          <p:cNvPr id="210" name="Shape 25"/>
          <p:cNvSpPr/>
          <p:nvPr/>
        </p:nvSpPr>
        <p:spPr>
          <a:xfrm>
            <a:off x="868680" y="553212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26"/>
          <p:cNvSpPr txBox="1"/>
          <p:nvPr/>
        </p:nvSpPr>
        <p:spPr>
          <a:xfrm>
            <a:off x="1005839" y="570102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spec-kit-pattern</a:t>
            </a:r>
          </a:p>
        </p:txBody>
      </p:sp>
      <p:sp>
        <p:nvSpPr>
          <p:cNvPr id="212" name="Shape 27"/>
          <p:cNvSpPr/>
          <p:nvPr/>
        </p:nvSpPr>
        <p:spPr>
          <a:xfrm>
            <a:off x="3611879" y="5532120"/>
            <a:ext cx="260604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28"/>
          <p:cNvSpPr txBox="1"/>
          <p:nvPr/>
        </p:nvSpPr>
        <p:spPr>
          <a:xfrm>
            <a:off x="3749040" y="5701029"/>
            <a:ext cx="24688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metical-design-system</a:t>
            </a:r>
          </a:p>
        </p:txBody>
      </p:sp>
      <p:sp>
        <p:nvSpPr>
          <p:cNvPr id="214" name="Text 29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9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640080" y="640080"/>
            <a:ext cx="411481" cy="41148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1"/>
          <p:cNvSpPr txBox="1"/>
          <p:nvPr/>
        </p:nvSpPr>
        <p:spPr>
          <a:xfrm>
            <a:off x="640080" y="737869"/>
            <a:ext cx="4114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218" name="Text 2"/>
          <p:cNvSpPr txBox="1"/>
          <p:nvPr/>
        </p:nvSpPr>
        <p:spPr>
          <a:xfrm>
            <a:off x="640080" y="1871280"/>
            <a:ext cx="10972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300" sz="1400">
                <a:solidFill>
                  <a:srgbClr val="D4A017"/>
                </a:solidFill>
              </a:defRPr>
            </a:lvl1pPr>
          </a:lstStyle>
          <a:p>
            <a:pPr/>
            <a:r>
              <a:t>40 projectos</a:t>
            </a:r>
          </a:p>
        </p:txBody>
      </p:sp>
      <p:sp>
        <p:nvSpPr>
          <p:cNvPr id="219" name="Text 3"/>
          <p:cNvSpPr txBox="1"/>
          <p:nvPr/>
        </p:nvSpPr>
        <p:spPr>
          <a:xfrm>
            <a:off x="640080" y="2251710"/>
            <a:ext cx="109728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150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Em seis categorias</a:t>
            </a:r>
          </a:p>
        </p:txBody>
      </p:sp>
      <p:sp>
        <p:nvSpPr>
          <p:cNvPr id="220" name="Shape 4"/>
          <p:cNvSpPr/>
          <p:nvPr/>
        </p:nvSpPr>
        <p:spPr>
          <a:xfrm>
            <a:off x="640080" y="4023359"/>
            <a:ext cx="3657601" cy="1188721"/>
          </a:xfrm>
          <a:prstGeom prst="rect">
            <a:avLst/>
          </a:prstGeom>
          <a:solidFill>
            <a:srgbClr val="292524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5"/>
          <p:cNvSpPr txBox="1"/>
          <p:nvPr/>
        </p:nvSpPr>
        <p:spPr>
          <a:xfrm>
            <a:off x="822960" y="422586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D4A017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222" name="Text 6"/>
          <p:cNvSpPr txBox="1"/>
          <p:nvPr/>
        </p:nvSpPr>
        <p:spPr>
          <a:xfrm>
            <a:off x="2926079" y="4244340"/>
            <a:ext cx="1188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1-6</a:t>
            </a:r>
          </a:p>
        </p:txBody>
      </p:sp>
      <p:sp>
        <p:nvSpPr>
          <p:cNvPr id="223" name="Text 7"/>
          <p:cNvSpPr txBox="1"/>
          <p:nvPr/>
        </p:nvSpPr>
        <p:spPr>
          <a:xfrm>
            <a:off x="822959" y="4722167"/>
            <a:ext cx="3291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7E5E4"/>
                </a:solidFill>
              </a:defRPr>
            </a:lvl1pPr>
          </a:lstStyle>
          <a:p>
            <a:pPr/>
            <a:r>
              <a:t>Dados públicos do Banco</a:t>
            </a:r>
          </a:p>
        </p:txBody>
      </p:sp>
      <p:sp>
        <p:nvSpPr>
          <p:cNvPr id="224" name="Shape 8"/>
          <p:cNvSpPr/>
          <p:nvPr/>
        </p:nvSpPr>
        <p:spPr>
          <a:xfrm>
            <a:off x="4480559" y="4023359"/>
            <a:ext cx="3657601" cy="1188721"/>
          </a:xfrm>
          <a:prstGeom prst="rect">
            <a:avLst/>
          </a:prstGeom>
          <a:solidFill>
            <a:srgbClr val="292524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9"/>
          <p:cNvSpPr txBox="1"/>
          <p:nvPr/>
        </p:nvSpPr>
        <p:spPr>
          <a:xfrm>
            <a:off x="4663440" y="422586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D4A017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226" name="Text 10"/>
          <p:cNvSpPr txBox="1"/>
          <p:nvPr/>
        </p:nvSpPr>
        <p:spPr>
          <a:xfrm>
            <a:off x="6766559" y="4244340"/>
            <a:ext cx="1188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7-15</a:t>
            </a:r>
          </a:p>
        </p:txBody>
      </p:sp>
      <p:sp>
        <p:nvSpPr>
          <p:cNvPr id="227" name="Text 11"/>
          <p:cNvSpPr txBox="1"/>
          <p:nvPr/>
        </p:nvSpPr>
        <p:spPr>
          <a:xfrm>
            <a:off x="4663440" y="4722167"/>
            <a:ext cx="32918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7E5E4"/>
                </a:solidFill>
              </a:defRPr>
            </a:lvl1pPr>
          </a:lstStyle>
          <a:p>
            <a:pPr/>
            <a:r>
              <a:t>Ferramentas e pequenos negócios</a:t>
            </a:r>
          </a:p>
        </p:txBody>
      </p:sp>
      <p:sp>
        <p:nvSpPr>
          <p:cNvPr id="228" name="Shape 12"/>
          <p:cNvSpPr/>
          <p:nvPr/>
        </p:nvSpPr>
        <p:spPr>
          <a:xfrm>
            <a:off x="8321040" y="4023359"/>
            <a:ext cx="3657601" cy="1188721"/>
          </a:xfrm>
          <a:prstGeom prst="rect">
            <a:avLst/>
          </a:prstGeom>
          <a:solidFill>
            <a:srgbClr val="292524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3"/>
          <p:cNvSpPr txBox="1"/>
          <p:nvPr/>
        </p:nvSpPr>
        <p:spPr>
          <a:xfrm>
            <a:off x="8503919" y="422586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D4A017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230" name="Text 14"/>
          <p:cNvSpPr txBox="1"/>
          <p:nvPr/>
        </p:nvSpPr>
        <p:spPr>
          <a:xfrm>
            <a:off x="10607040" y="4244340"/>
            <a:ext cx="1188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16-23</a:t>
            </a:r>
          </a:p>
        </p:txBody>
      </p:sp>
      <p:sp>
        <p:nvSpPr>
          <p:cNvPr id="231" name="Text 15"/>
          <p:cNvSpPr txBox="1"/>
          <p:nvPr/>
        </p:nvSpPr>
        <p:spPr>
          <a:xfrm>
            <a:off x="8503919" y="4722167"/>
            <a:ext cx="32918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7E5E4"/>
                </a:solidFill>
              </a:defRPr>
            </a:lvl1pPr>
          </a:lstStyle>
          <a:p>
            <a:pPr/>
            <a:r>
              <a:t>Línguas e estudo</a:t>
            </a:r>
          </a:p>
        </p:txBody>
      </p:sp>
      <p:sp>
        <p:nvSpPr>
          <p:cNvPr id="232" name="Shape 16"/>
          <p:cNvSpPr/>
          <p:nvPr/>
        </p:nvSpPr>
        <p:spPr>
          <a:xfrm>
            <a:off x="640080" y="5394959"/>
            <a:ext cx="3657601" cy="1188721"/>
          </a:xfrm>
          <a:prstGeom prst="rect">
            <a:avLst/>
          </a:prstGeom>
          <a:solidFill>
            <a:srgbClr val="292524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17"/>
          <p:cNvSpPr txBox="1"/>
          <p:nvPr/>
        </p:nvSpPr>
        <p:spPr>
          <a:xfrm>
            <a:off x="822960" y="559746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D4A017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234" name="Text 18"/>
          <p:cNvSpPr txBox="1"/>
          <p:nvPr/>
        </p:nvSpPr>
        <p:spPr>
          <a:xfrm>
            <a:off x="2926079" y="5615940"/>
            <a:ext cx="1188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24-30</a:t>
            </a:r>
          </a:p>
        </p:txBody>
      </p:sp>
      <p:sp>
        <p:nvSpPr>
          <p:cNvPr id="235" name="Text 19"/>
          <p:cNvSpPr txBox="1"/>
          <p:nvPr/>
        </p:nvSpPr>
        <p:spPr>
          <a:xfrm>
            <a:off x="822959" y="6093767"/>
            <a:ext cx="3291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7E5E4"/>
                </a:solidFill>
              </a:defRPr>
            </a:lvl1pPr>
          </a:lstStyle>
          <a:p>
            <a:pPr/>
            <a:r>
              <a:t>Freelancing e gestão</a:t>
            </a:r>
          </a:p>
        </p:txBody>
      </p:sp>
      <p:sp>
        <p:nvSpPr>
          <p:cNvPr id="236" name="Shape 20"/>
          <p:cNvSpPr/>
          <p:nvPr/>
        </p:nvSpPr>
        <p:spPr>
          <a:xfrm>
            <a:off x="4480559" y="5394959"/>
            <a:ext cx="3657601" cy="1188721"/>
          </a:xfrm>
          <a:prstGeom prst="rect">
            <a:avLst/>
          </a:prstGeom>
          <a:solidFill>
            <a:srgbClr val="292524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21"/>
          <p:cNvSpPr txBox="1"/>
          <p:nvPr/>
        </p:nvSpPr>
        <p:spPr>
          <a:xfrm>
            <a:off x="4663440" y="559746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D4A017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238" name="Text 22"/>
          <p:cNvSpPr txBox="1"/>
          <p:nvPr/>
        </p:nvSpPr>
        <p:spPr>
          <a:xfrm>
            <a:off x="6766559" y="5615940"/>
            <a:ext cx="1188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31-36</a:t>
            </a:r>
          </a:p>
        </p:txBody>
      </p:sp>
      <p:sp>
        <p:nvSpPr>
          <p:cNvPr id="239" name="Text 23"/>
          <p:cNvSpPr txBox="1"/>
          <p:nvPr/>
        </p:nvSpPr>
        <p:spPr>
          <a:xfrm>
            <a:off x="4663440" y="6093767"/>
            <a:ext cx="32918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7E5E4"/>
                </a:solidFill>
              </a:defRPr>
            </a:lvl1pPr>
          </a:lstStyle>
          <a:p>
            <a:pPr/>
            <a:r>
              <a:t>Localização Moz</a:t>
            </a:r>
          </a:p>
        </p:txBody>
      </p:sp>
      <p:sp>
        <p:nvSpPr>
          <p:cNvPr id="240" name="Shape 24"/>
          <p:cNvSpPr/>
          <p:nvPr/>
        </p:nvSpPr>
        <p:spPr>
          <a:xfrm>
            <a:off x="8321040" y="5394959"/>
            <a:ext cx="3657601" cy="1188721"/>
          </a:xfrm>
          <a:prstGeom prst="rect">
            <a:avLst/>
          </a:prstGeom>
          <a:solidFill>
            <a:srgbClr val="292524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25"/>
          <p:cNvSpPr txBox="1"/>
          <p:nvPr/>
        </p:nvSpPr>
        <p:spPr>
          <a:xfrm>
            <a:off x="8503919" y="559746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D4A017"/>
                </a:solidFill>
              </a:defRPr>
            </a:lvl1pPr>
          </a:lstStyle>
          <a:p>
            <a:pPr/>
            <a:r>
              <a:t>Dev</a:t>
            </a:r>
          </a:p>
        </p:txBody>
      </p:sp>
      <p:sp>
        <p:nvSpPr>
          <p:cNvPr id="242" name="Text 26"/>
          <p:cNvSpPr txBox="1"/>
          <p:nvPr/>
        </p:nvSpPr>
        <p:spPr>
          <a:xfrm>
            <a:off x="10607040" y="5615940"/>
            <a:ext cx="1188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37-40</a:t>
            </a:r>
          </a:p>
        </p:txBody>
      </p:sp>
      <p:sp>
        <p:nvSpPr>
          <p:cNvPr id="243" name="Text 27"/>
          <p:cNvSpPr txBox="1"/>
          <p:nvPr/>
        </p:nvSpPr>
        <p:spPr>
          <a:xfrm>
            <a:off x="8503919" y="6093767"/>
            <a:ext cx="32918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7E5E4"/>
                </a:solidFill>
              </a:defRPr>
            </a:lvl1pPr>
          </a:lstStyle>
          <a:p>
            <a:pPr/>
            <a:r>
              <a:t>Ferramentas para programadores</a:t>
            </a:r>
          </a:p>
        </p:txBody>
      </p:sp>
      <p:sp>
        <p:nvSpPr>
          <p:cNvPr id="244" name="Text 28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10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24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24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5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252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Dashboard Macroeconómico de Moçambique</a:t>
            </a:r>
          </a:p>
        </p:txBody>
      </p:sp>
      <p:sp>
        <p:nvSpPr>
          <p:cNvPr id="25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254" name="Text 8"/>
          <p:cNvSpPr txBox="1"/>
          <p:nvPr/>
        </p:nvSpPr>
        <p:spPr>
          <a:xfrm>
            <a:off x="640080" y="3928680"/>
            <a:ext cx="6858001" cy="64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Indicadores-chave da economia moçambicana num só ecrã: câmbio MZN/USD, taxa Mimo, inflação homóloga, e variação trimestral do PIB. Cada indicador tem sparkline e badge de variação.</a:t>
            </a:r>
          </a:p>
        </p:txBody>
      </p:sp>
      <p:sp>
        <p:nvSpPr>
          <p:cNvPr id="25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25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XMLs do BCM (4 endpoints)</a:t>
            </a:r>
          </a:p>
        </p:txBody>
      </p:sp>
      <p:sp>
        <p:nvSpPr>
          <p:cNvPr id="25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" name="Shape 13"/>
          <p:cNvSpPr/>
          <p:nvPr/>
        </p:nvSpPr>
        <p:spPr>
          <a:xfrm>
            <a:off x="8092440" y="1463039"/>
            <a:ext cx="1600201" cy="219456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14"/>
          <p:cNvSpPr txBox="1"/>
          <p:nvPr/>
        </p:nvSpPr>
        <p:spPr>
          <a:xfrm>
            <a:off x="8183880" y="1586991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8716C"/>
                </a:solidFill>
              </a:defRPr>
            </a:lvl1pPr>
          </a:lstStyle>
          <a:p>
            <a:pPr/>
            <a:r>
              <a:t>MZN/USD</a:t>
            </a:r>
          </a:p>
        </p:txBody>
      </p:sp>
      <p:sp>
        <p:nvSpPr>
          <p:cNvPr id="261" name="Text 15"/>
          <p:cNvSpPr txBox="1"/>
          <p:nvPr/>
        </p:nvSpPr>
        <p:spPr>
          <a:xfrm>
            <a:off x="8183880" y="2531110"/>
            <a:ext cx="1417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64.54</a:t>
            </a:r>
          </a:p>
        </p:txBody>
      </p:sp>
      <p:sp>
        <p:nvSpPr>
          <p:cNvPr id="262" name="Shape 16"/>
          <p:cNvSpPr/>
          <p:nvPr/>
        </p:nvSpPr>
        <p:spPr>
          <a:xfrm>
            <a:off x="9784080" y="1463039"/>
            <a:ext cx="1600201" cy="219456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Text 17"/>
          <p:cNvSpPr txBox="1"/>
          <p:nvPr/>
        </p:nvSpPr>
        <p:spPr>
          <a:xfrm>
            <a:off x="9875519" y="1586991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8716C"/>
                </a:solidFill>
              </a:defRPr>
            </a:lvl1pPr>
          </a:lstStyle>
          <a:p>
            <a:pPr/>
            <a:r>
              <a:t>MIMO</a:t>
            </a:r>
          </a:p>
        </p:txBody>
      </p:sp>
      <p:sp>
        <p:nvSpPr>
          <p:cNvPr id="264" name="Text 18"/>
          <p:cNvSpPr txBox="1"/>
          <p:nvPr/>
        </p:nvSpPr>
        <p:spPr>
          <a:xfrm>
            <a:off x="9875519" y="2531110"/>
            <a:ext cx="1417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9.25%</a:t>
            </a:r>
          </a:p>
        </p:txBody>
      </p:sp>
      <p:sp>
        <p:nvSpPr>
          <p:cNvPr id="265" name="Shape 19"/>
          <p:cNvSpPr/>
          <p:nvPr/>
        </p:nvSpPr>
        <p:spPr>
          <a:xfrm>
            <a:off x="8092440" y="3749040"/>
            <a:ext cx="1600201" cy="219456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20"/>
          <p:cNvSpPr txBox="1"/>
          <p:nvPr/>
        </p:nvSpPr>
        <p:spPr>
          <a:xfrm>
            <a:off x="8183880" y="3872991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8716C"/>
                </a:solidFill>
              </a:defRPr>
            </a:lvl1pPr>
          </a:lstStyle>
          <a:p>
            <a:pPr/>
            <a:r>
              <a:t>INFLAÇÃO</a:t>
            </a:r>
          </a:p>
        </p:txBody>
      </p:sp>
      <p:sp>
        <p:nvSpPr>
          <p:cNvPr id="267" name="Text 21"/>
          <p:cNvSpPr txBox="1"/>
          <p:nvPr/>
        </p:nvSpPr>
        <p:spPr>
          <a:xfrm>
            <a:off x="8183880" y="4817109"/>
            <a:ext cx="1417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3.37%</a:t>
            </a:r>
          </a:p>
        </p:txBody>
      </p:sp>
      <p:sp>
        <p:nvSpPr>
          <p:cNvPr id="268" name="Shape 22"/>
          <p:cNvSpPr/>
          <p:nvPr/>
        </p:nvSpPr>
        <p:spPr>
          <a:xfrm>
            <a:off x="9784080" y="3749040"/>
            <a:ext cx="1600201" cy="219456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23"/>
          <p:cNvSpPr txBox="1"/>
          <p:nvPr/>
        </p:nvSpPr>
        <p:spPr>
          <a:xfrm>
            <a:off x="9875519" y="3872991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8716C"/>
                </a:solidFill>
              </a:defRPr>
            </a:lvl1pPr>
          </a:lstStyle>
          <a:p>
            <a:pPr/>
            <a:r>
              <a:t>PIB Q3</a:t>
            </a:r>
          </a:p>
        </p:txBody>
      </p:sp>
      <p:sp>
        <p:nvSpPr>
          <p:cNvPr id="270" name="Text 24"/>
          <p:cNvSpPr txBox="1"/>
          <p:nvPr/>
        </p:nvSpPr>
        <p:spPr>
          <a:xfrm>
            <a:off x="9875519" y="4817109"/>
            <a:ext cx="1417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-0.85%</a:t>
            </a:r>
          </a:p>
        </p:txBody>
      </p:sp>
      <p:sp>
        <p:nvSpPr>
          <p:cNvPr id="271" name="Text 25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11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275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276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78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279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Calculadora de Empréstimo com Prime Rate Real</a:t>
            </a:r>
          </a:p>
        </p:txBody>
      </p:sp>
      <p:sp>
        <p:nvSpPr>
          <p:cNvPr id="280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281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Utilizador insere valor, prazo e spread; aplicação calcula prestação mensal usando a Prime Rate actual do BCM como base. Mostra tabela de amortização e total de juros.</a:t>
            </a:r>
          </a:p>
        </p:txBody>
      </p:sp>
      <p:sp>
        <p:nvSpPr>
          <p:cNvPr id="282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284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interest-rates.xml do BCM</a:t>
            </a:r>
          </a:p>
        </p:txBody>
      </p:sp>
      <p:sp>
        <p:nvSpPr>
          <p:cNvPr id="285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PRESTAÇÃO MENSAL</a:t>
            </a:r>
          </a:p>
        </p:txBody>
      </p:sp>
      <p:sp>
        <p:nvSpPr>
          <p:cNvPr id="287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8 425</a:t>
            </a:r>
          </a:p>
        </p:txBody>
      </p:sp>
      <p:sp>
        <p:nvSpPr>
          <p:cNvPr id="288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MT, 36 meses, Prime 15.5%</a:t>
            </a:r>
          </a:p>
        </p:txBody>
      </p:sp>
      <p:sp>
        <p:nvSpPr>
          <p:cNvPr id="289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293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294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6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297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Comparador de Inflação Mensal vs Homóloga</a:t>
            </a:r>
          </a:p>
        </p:txBody>
      </p:sp>
      <p:sp>
        <p:nvSpPr>
          <p:cNvPr id="298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299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Gráfico que sobrepõe inflação mensal e homóloga num único eixo temporal. Permite ver quando os dois divergem. Útil para jornalistas e estudantes de economia.</a:t>
            </a:r>
          </a:p>
        </p:txBody>
      </p:sp>
      <p:sp>
        <p:nvSpPr>
          <p:cNvPr id="300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302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inflation-monthly + inflation-yearly</a:t>
            </a:r>
          </a:p>
        </p:txBody>
      </p:sp>
      <p:sp>
        <p:nvSpPr>
          <p:cNvPr id="303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Text 13"/>
          <p:cNvSpPr txBox="1"/>
          <p:nvPr/>
        </p:nvSpPr>
        <p:spPr>
          <a:xfrm>
            <a:off x="8138159" y="1533066"/>
            <a:ext cx="3291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Inflação 12 meses</a:t>
            </a:r>
          </a:p>
        </p:txBody>
      </p:sp>
      <p:sp>
        <p:nvSpPr>
          <p:cNvPr id="305" name="Shape 14"/>
          <p:cNvSpPr/>
          <p:nvPr/>
        </p:nvSpPr>
        <p:spPr>
          <a:xfrm>
            <a:off x="8138159" y="3749039"/>
            <a:ext cx="411481" cy="374905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15"/>
          <p:cNvSpPr/>
          <p:nvPr/>
        </p:nvSpPr>
        <p:spPr>
          <a:xfrm>
            <a:off x="8549640" y="3749040"/>
            <a:ext cx="411481" cy="187453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16"/>
          <p:cNvSpPr/>
          <p:nvPr/>
        </p:nvSpPr>
        <p:spPr>
          <a:xfrm>
            <a:off x="8961120" y="3374136"/>
            <a:ext cx="411481" cy="562357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17"/>
          <p:cNvSpPr/>
          <p:nvPr/>
        </p:nvSpPr>
        <p:spPr>
          <a:xfrm>
            <a:off x="9372600" y="3374135"/>
            <a:ext cx="411481" cy="187454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Shape 18"/>
          <p:cNvSpPr/>
          <p:nvPr/>
        </p:nvSpPr>
        <p:spPr>
          <a:xfrm>
            <a:off x="9784080" y="2999232"/>
            <a:ext cx="411481" cy="562357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Shape 19"/>
          <p:cNvSpPr/>
          <p:nvPr/>
        </p:nvSpPr>
        <p:spPr>
          <a:xfrm>
            <a:off x="10195559" y="2999232"/>
            <a:ext cx="411481" cy="187453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Shape 20"/>
          <p:cNvSpPr/>
          <p:nvPr/>
        </p:nvSpPr>
        <p:spPr>
          <a:xfrm>
            <a:off x="10607040" y="3186683"/>
            <a:ext cx="411481" cy="562357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21"/>
          <p:cNvSpPr/>
          <p:nvPr/>
        </p:nvSpPr>
        <p:spPr>
          <a:xfrm>
            <a:off x="11018519" y="3749040"/>
            <a:ext cx="411481" cy="187453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22"/>
          <p:cNvSpPr/>
          <p:nvPr/>
        </p:nvSpPr>
        <p:spPr>
          <a:xfrm>
            <a:off x="11365992" y="3872484"/>
            <a:ext cx="128017" cy="12801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23"/>
          <p:cNvSpPr txBox="1"/>
          <p:nvPr/>
        </p:nvSpPr>
        <p:spPr>
          <a:xfrm>
            <a:off x="8138159" y="5744209"/>
            <a:ext cx="32918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3.37%</a:t>
            </a:r>
          </a:p>
        </p:txBody>
      </p:sp>
      <p:sp>
        <p:nvSpPr>
          <p:cNvPr id="315" name="Text 24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13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31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320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22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323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Alerta de Variação Cambial</a:t>
            </a:r>
          </a:p>
        </p:txBody>
      </p:sp>
      <p:sp>
        <p:nvSpPr>
          <p:cNvPr id="324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325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Mostra MZN/USD actual e calcula variação % vs semana anterior. Quando passa um limiar configurável, mostra banner de destaque.</a:t>
            </a:r>
          </a:p>
        </p:txBody>
      </p:sp>
      <p:sp>
        <p:nvSpPr>
          <p:cNvPr id="326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328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exchangerates-weekly.xml</a:t>
            </a:r>
          </a:p>
        </p:txBody>
      </p:sp>
      <p:sp>
        <p:nvSpPr>
          <p:cNvPr id="329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VARIAÇÃO 5D</a:t>
            </a:r>
          </a:p>
        </p:txBody>
      </p:sp>
      <p:sp>
        <p:nvSpPr>
          <p:cNvPr id="331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+0.42%</a:t>
            </a:r>
          </a:p>
        </p:txBody>
      </p:sp>
      <p:sp>
        <p:nvSpPr>
          <p:cNvPr id="332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USD subiu vs MT</a:t>
            </a:r>
          </a:p>
        </p:txBody>
      </p:sp>
      <p:sp>
        <p:nvSpPr>
          <p:cNvPr id="333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14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33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338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40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341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Visualizador de Recessão Trimestral</a:t>
            </a:r>
          </a:p>
        </p:txBody>
      </p:sp>
      <p:sp>
        <p:nvSpPr>
          <p:cNvPr id="342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343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App focada no PIB com barras coloridas: verde positivo, vermelho negativo. Destaca períodos de recessão técnica (dois trimestres negativos consecutivos).</a:t>
            </a:r>
          </a:p>
        </p:txBody>
      </p:sp>
      <p:sp>
        <p:nvSpPr>
          <p:cNvPr id="344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346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pib.xml</a:t>
            </a:r>
          </a:p>
        </p:txBody>
      </p:sp>
      <p:sp>
        <p:nvSpPr>
          <p:cNvPr id="347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" name="Text 13"/>
          <p:cNvSpPr txBox="1"/>
          <p:nvPr/>
        </p:nvSpPr>
        <p:spPr>
          <a:xfrm>
            <a:off x="8138159" y="1533066"/>
            <a:ext cx="3291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PIB trimestral</a:t>
            </a:r>
          </a:p>
        </p:txBody>
      </p:sp>
      <p:sp>
        <p:nvSpPr>
          <p:cNvPr id="349" name="Shape 14"/>
          <p:cNvSpPr/>
          <p:nvPr/>
        </p:nvSpPr>
        <p:spPr>
          <a:xfrm>
            <a:off x="8138159" y="2999231"/>
            <a:ext cx="548641" cy="374905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15"/>
          <p:cNvSpPr/>
          <p:nvPr/>
        </p:nvSpPr>
        <p:spPr>
          <a:xfrm>
            <a:off x="8686799" y="2999231"/>
            <a:ext cx="548641" cy="749809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Shape 16"/>
          <p:cNvSpPr/>
          <p:nvPr/>
        </p:nvSpPr>
        <p:spPr>
          <a:xfrm>
            <a:off x="9235439" y="3749040"/>
            <a:ext cx="548641" cy="749809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Shape 17"/>
          <p:cNvSpPr/>
          <p:nvPr/>
        </p:nvSpPr>
        <p:spPr>
          <a:xfrm>
            <a:off x="9784079" y="4498847"/>
            <a:ext cx="548642" cy="374906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Shape 18"/>
          <p:cNvSpPr/>
          <p:nvPr/>
        </p:nvSpPr>
        <p:spPr>
          <a:xfrm>
            <a:off x="10332719" y="4686300"/>
            <a:ext cx="548641" cy="187453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Shape 19"/>
          <p:cNvSpPr/>
          <p:nvPr/>
        </p:nvSpPr>
        <p:spPr>
          <a:xfrm>
            <a:off x="10881359" y="4498847"/>
            <a:ext cx="548641" cy="187453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20"/>
          <p:cNvSpPr/>
          <p:nvPr/>
        </p:nvSpPr>
        <p:spPr>
          <a:xfrm>
            <a:off x="11365992" y="4434840"/>
            <a:ext cx="128017" cy="12801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21"/>
          <p:cNvSpPr txBox="1"/>
          <p:nvPr/>
        </p:nvSpPr>
        <p:spPr>
          <a:xfrm>
            <a:off x="8138159" y="5744209"/>
            <a:ext cx="32918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-0.85% Q3</a:t>
            </a:r>
          </a:p>
        </p:txBody>
      </p:sp>
      <p:sp>
        <p:nvSpPr>
          <p:cNvPr id="357" name="Text 22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15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36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36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6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BCM</a:t>
            </a:r>
          </a:p>
        </p:txBody>
      </p:sp>
      <p:sp>
        <p:nvSpPr>
          <p:cNvPr id="365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Conversor MZN com Histórico de 1 Ano</a:t>
            </a:r>
          </a:p>
        </p:txBody>
      </p:sp>
      <p:sp>
        <p:nvSpPr>
          <p:cNvPr id="36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36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Variante do metical-lab com vista de 1 ano em gráfico de área. Discute como agendar cron job para acumular histórico real para além dos 24 dias do BCM.</a:t>
            </a:r>
          </a:p>
        </p:txBody>
      </p:sp>
      <p:sp>
        <p:nvSpPr>
          <p:cNvPr id="36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37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exchangerates-monthly + JSON local</a:t>
            </a:r>
          </a:p>
        </p:txBody>
      </p:sp>
      <p:sp>
        <p:nvSpPr>
          <p:cNvPr id="37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" name="Shape 13"/>
          <p:cNvSpPr/>
          <p:nvPr/>
        </p:nvSpPr>
        <p:spPr>
          <a:xfrm>
            <a:off x="8138159" y="1508760"/>
            <a:ext cx="3291841" cy="219456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14"/>
          <p:cNvSpPr txBox="1"/>
          <p:nvPr/>
        </p:nvSpPr>
        <p:spPr>
          <a:xfrm>
            <a:off x="8229600" y="1600244"/>
            <a:ext cx="914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78716C"/>
                </a:solidFill>
              </a:defRPr>
            </a:lvl1pPr>
          </a:lstStyle>
          <a:p>
            <a:pPr/>
            <a:r>
              <a:t>USD</a:t>
            </a:r>
          </a:p>
        </p:txBody>
      </p:sp>
      <p:sp>
        <p:nvSpPr>
          <p:cNvPr id="374" name="Text 15"/>
          <p:cNvSpPr txBox="1"/>
          <p:nvPr/>
        </p:nvSpPr>
        <p:spPr>
          <a:xfrm>
            <a:off x="8229600" y="1823719"/>
            <a:ext cx="31089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375" name="Shape 16"/>
          <p:cNvSpPr/>
          <p:nvPr/>
        </p:nvSpPr>
        <p:spPr>
          <a:xfrm>
            <a:off x="8138159" y="3794759"/>
            <a:ext cx="3291841" cy="2194561"/>
          </a:xfrm>
          <a:prstGeom prst="rect">
            <a:avLst/>
          </a:prstGeom>
          <a:solidFill>
            <a:srgbClr val="FEF3C7"/>
          </a:solidFill>
          <a:ln w="6350">
            <a:solidFill>
              <a:srgbClr val="FDE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7"/>
          <p:cNvSpPr txBox="1"/>
          <p:nvPr/>
        </p:nvSpPr>
        <p:spPr>
          <a:xfrm>
            <a:off x="8229600" y="3886244"/>
            <a:ext cx="914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A67C00"/>
                </a:solidFill>
              </a:defRPr>
            </a:lvl1pPr>
          </a:lstStyle>
          <a:p>
            <a:pPr/>
            <a:r>
              <a:t>MZN</a:t>
            </a:r>
          </a:p>
        </p:txBody>
      </p:sp>
      <p:sp>
        <p:nvSpPr>
          <p:cNvPr id="377" name="Text 18"/>
          <p:cNvSpPr txBox="1"/>
          <p:nvPr/>
        </p:nvSpPr>
        <p:spPr>
          <a:xfrm>
            <a:off x="8229600" y="4109720"/>
            <a:ext cx="31089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6 454.00</a:t>
            </a:r>
          </a:p>
        </p:txBody>
      </p:sp>
      <p:sp>
        <p:nvSpPr>
          <p:cNvPr id="378" name="Text 19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16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382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383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385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386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Gerador de Facturas com NUIT e IVA</a:t>
            </a:r>
          </a:p>
        </p:txBody>
      </p:sp>
      <p:sp>
        <p:nvSpPr>
          <p:cNvPr id="387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388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Formulário com dados de cliente (nome, NUIT formatado), itens, calcula IVA 17% (taxa Moz), e exporta PDF. Histórico em localStorage.</a:t>
            </a:r>
          </a:p>
        </p:txBody>
      </p:sp>
      <p:sp>
        <p:nvSpPr>
          <p:cNvPr id="389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391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jspdf</a:t>
            </a:r>
          </a:p>
        </p:txBody>
      </p:sp>
      <p:sp>
        <p:nvSpPr>
          <p:cNvPr id="392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CLIENTE</a:t>
            </a:r>
          </a:p>
        </p:txBody>
      </p:sp>
      <p:sp>
        <p:nvSpPr>
          <p:cNvPr id="394" name="Shape 14"/>
          <p:cNvSpPr/>
          <p:nvPr/>
        </p:nvSpPr>
        <p:spPr>
          <a:xfrm>
            <a:off x="8138159" y="1691639"/>
            <a:ext cx="3291841" cy="84582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15"/>
          <p:cNvSpPr txBox="1"/>
          <p:nvPr/>
        </p:nvSpPr>
        <p:spPr>
          <a:xfrm>
            <a:off x="8211311" y="2032000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Empresa Lda</a:t>
            </a:r>
          </a:p>
        </p:txBody>
      </p:sp>
      <p:sp>
        <p:nvSpPr>
          <p:cNvPr id="396" name="Text 16"/>
          <p:cNvSpPr txBox="1"/>
          <p:nvPr/>
        </p:nvSpPr>
        <p:spPr>
          <a:xfrm>
            <a:off x="8138159" y="264769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NUIT</a:t>
            </a:r>
          </a:p>
        </p:txBody>
      </p:sp>
      <p:sp>
        <p:nvSpPr>
          <p:cNvPr id="397" name="Shape 17"/>
          <p:cNvSpPr/>
          <p:nvPr/>
        </p:nvSpPr>
        <p:spPr>
          <a:xfrm>
            <a:off x="8138159" y="2811779"/>
            <a:ext cx="3291841" cy="84582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18"/>
          <p:cNvSpPr txBox="1"/>
          <p:nvPr/>
        </p:nvSpPr>
        <p:spPr>
          <a:xfrm>
            <a:off x="8211311" y="315213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123 456 789</a:t>
            </a:r>
          </a:p>
        </p:txBody>
      </p:sp>
      <p:sp>
        <p:nvSpPr>
          <p:cNvPr id="399" name="Text 19"/>
          <p:cNvSpPr txBox="1"/>
          <p:nvPr/>
        </p:nvSpPr>
        <p:spPr>
          <a:xfrm>
            <a:off x="8138159" y="376783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400" name="Shape 20"/>
          <p:cNvSpPr/>
          <p:nvPr/>
        </p:nvSpPr>
        <p:spPr>
          <a:xfrm>
            <a:off x="8138159" y="3931920"/>
            <a:ext cx="3291841" cy="84582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Text 21"/>
          <p:cNvSpPr txBox="1"/>
          <p:nvPr/>
        </p:nvSpPr>
        <p:spPr>
          <a:xfrm>
            <a:off x="8211311" y="427227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23 400.00 MT</a:t>
            </a:r>
          </a:p>
        </p:txBody>
      </p:sp>
      <p:sp>
        <p:nvSpPr>
          <p:cNvPr id="402" name="Shape 22"/>
          <p:cNvSpPr/>
          <p:nvPr/>
        </p:nvSpPr>
        <p:spPr>
          <a:xfrm>
            <a:off x="8138159" y="4914900"/>
            <a:ext cx="3291841" cy="9372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23"/>
          <p:cNvSpPr txBox="1"/>
          <p:nvPr/>
        </p:nvSpPr>
        <p:spPr>
          <a:xfrm>
            <a:off x="8138159" y="5316396"/>
            <a:ext cx="3291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Gerar PDF</a:t>
            </a:r>
          </a:p>
        </p:txBody>
      </p:sp>
      <p:sp>
        <p:nvSpPr>
          <p:cNvPr id="404" name="Text 24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17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40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40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41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412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Validador e Formatador de NUIT</a:t>
            </a:r>
          </a:p>
        </p:txBody>
      </p:sp>
      <p:sp>
        <p:nvSpPr>
          <p:cNvPr id="41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414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Valida o NUIT moçambicano (9 dígitos), formata como XXX XXX XXX, e identifica tipo de contribuinte pelo primeiro dígito.</a:t>
            </a:r>
          </a:p>
        </p:txBody>
      </p:sp>
      <p:sp>
        <p:nvSpPr>
          <p:cNvPr id="41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41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regras AT Moz</a:t>
            </a:r>
          </a:p>
        </p:txBody>
      </p:sp>
      <p:sp>
        <p:nvSpPr>
          <p:cNvPr id="41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NUIT</a:t>
            </a:r>
          </a:p>
        </p:txBody>
      </p:sp>
      <p:sp>
        <p:nvSpPr>
          <p:cNvPr id="420" name="Shape 14"/>
          <p:cNvSpPr/>
          <p:nvPr/>
        </p:nvSpPr>
        <p:spPr>
          <a:xfrm>
            <a:off x="8138159" y="1691639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Text 15"/>
          <p:cNvSpPr txBox="1"/>
          <p:nvPr/>
        </p:nvSpPr>
        <p:spPr>
          <a:xfrm>
            <a:off x="8211311" y="221868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123 456 789</a:t>
            </a:r>
          </a:p>
        </p:txBody>
      </p:sp>
      <p:sp>
        <p:nvSpPr>
          <p:cNvPr id="422" name="Text 16"/>
          <p:cNvSpPr txBox="1"/>
          <p:nvPr/>
        </p:nvSpPr>
        <p:spPr>
          <a:xfrm>
            <a:off x="8138159" y="302107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TIPO</a:t>
            </a:r>
          </a:p>
        </p:txBody>
      </p:sp>
      <p:sp>
        <p:nvSpPr>
          <p:cNvPr id="423" name="Shape 17"/>
          <p:cNvSpPr/>
          <p:nvPr/>
        </p:nvSpPr>
        <p:spPr>
          <a:xfrm>
            <a:off x="8138159" y="3185160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ext 18"/>
          <p:cNvSpPr txBox="1"/>
          <p:nvPr/>
        </p:nvSpPr>
        <p:spPr>
          <a:xfrm>
            <a:off x="8211311" y="371220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Pessoa singular nacional</a:t>
            </a:r>
          </a:p>
        </p:txBody>
      </p:sp>
      <p:sp>
        <p:nvSpPr>
          <p:cNvPr id="425" name="Shape 19"/>
          <p:cNvSpPr/>
          <p:nvPr/>
        </p:nvSpPr>
        <p:spPr>
          <a:xfrm>
            <a:off x="8138159" y="4541520"/>
            <a:ext cx="3291841" cy="131064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20"/>
          <p:cNvSpPr txBox="1"/>
          <p:nvPr/>
        </p:nvSpPr>
        <p:spPr>
          <a:xfrm>
            <a:off x="8138159" y="5129706"/>
            <a:ext cx="3291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Validado</a:t>
            </a:r>
          </a:p>
        </p:txBody>
      </p:sp>
      <p:sp>
        <p:nvSpPr>
          <p:cNvPr id="427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18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43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43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43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435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Calculadora de IRPS Moçambicano</a:t>
            </a:r>
          </a:p>
        </p:txBody>
      </p:sp>
      <p:sp>
        <p:nvSpPr>
          <p:cNvPr id="43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43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Insere salário bruto; calcula IRPS por escalão, segurança social 3%, e mostra líquido. Mostra cálculo decomposto.</a:t>
            </a:r>
          </a:p>
        </p:txBody>
      </p:sp>
      <p:sp>
        <p:nvSpPr>
          <p:cNvPr id="43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44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tabelas IRPS Moz</a:t>
            </a:r>
          </a:p>
        </p:txBody>
      </p:sp>
      <p:sp>
        <p:nvSpPr>
          <p:cNvPr id="44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SALÁRIO LÍQUIDO</a:t>
            </a:r>
          </a:p>
        </p:txBody>
      </p:sp>
      <p:sp>
        <p:nvSpPr>
          <p:cNvPr id="443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23 375</a:t>
            </a:r>
          </a:p>
        </p:txBody>
      </p:sp>
      <p:sp>
        <p:nvSpPr>
          <p:cNvPr id="444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MT, bruto 25 000</a:t>
            </a:r>
          </a:p>
        </p:txBody>
      </p:sp>
      <p:sp>
        <p:nvSpPr>
          <p:cNvPr id="445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19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44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450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52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453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Tracker de Despesas em Meticais</a:t>
            </a:r>
          </a:p>
        </p:txBody>
      </p:sp>
      <p:sp>
        <p:nvSpPr>
          <p:cNvPr id="454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455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Adiciona despesas com categoria, data, valor; vê totais por mês e categoria com gráfico de pizza. Sem backend.</a:t>
            </a:r>
          </a:p>
        </p:txBody>
      </p:sp>
      <p:sp>
        <p:nvSpPr>
          <p:cNvPr id="456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458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localStorage</a:t>
            </a:r>
          </a:p>
        </p:txBody>
      </p:sp>
      <p:sp>
        <p:nvSpPr>
          <p:cNvPr id="459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Alimentação</a:t>
            </a:r>
          </a:p>
        </p:txBody>
      </p:sp>
      <p:sp>
        <p:nvSpPr>
          <p:cNvPr id="461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8 200</a:t>
            </a:r>
          </a:p>
        </p:txBody>
      </p:sp>
      <p:sp>
        <p:nvSpPr>
          <p:cNvPr id="462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Transporte</a:t>
            </a:r>
          </a:p>
        </p:txBody>
      </p:sp>
      <p:sp>
        <p:nvSpPr>
          <p:cNvPr id="464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3 100</a:t>
            </a:r>
          </a:p>
        </p:txBody>
      </p:sp>
      <p:sp>
        <p:nvSpPr>
          <p:cNvPr id="465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Renda</a:t>
            </a:r>
          </a:p>
        </p:txBody>
      </p:sp>
      <p:sp>
        <p:nvSpPr>
          <p:cNvPr id="467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15 000</a:t>
            </a:r>
          </a:p>
        </p:txBody>
      </p:sp>
      <p:sp>
        <p:nvSpPr>
          <p:cNvPr id="468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20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1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472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473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75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476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Conversor de Combustível: Litros para Meticais</a:t>
            </a:r>
          </a:p>
        </p:txBody>
      </p:sp>
      <p:sp>
        <p:nvSpPr>
          <p:cNvPr id="477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478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Calcula custo total de viagem dada distância em km, consumo em L/100km, e preço actual do combustível. Presets para gasolina e gasóleo.</a:t>
            </a:r>
          </a:p>
        </p:txBody>
      </p:sp>
      <p:sp>
        <p:nvSpPr>
          <p:cNvPr id="479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481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preços recentes Moz</a:t>
            </a:r>
          </a:p>
        </p:txBody>
      </p:sp>
      <p:sp>
        <p:nvSpPr>
          <p:cNvPr id="482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CUSTO ESTIMADO</a:t>
            </a:r>
          </a:p>
        </p:txBody>
      </p:sp>
      <p:sp>
        <p:nvSpPr>
          <p:cNvPr id="484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1 240</a:t>
            </a:r>
          </a:p>
        </p:txBody>
      </p:sp>
      <p:sp>
        <p:nvSpPr>
          <p:cNvPr id="485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MT, 200 km a 8 L/100km</a:t>
            </a:r>
          </a:p>
        </p:txBody>
      </p:sp>
      <p:sp>
        <p:nvSpPr>
          <p:cNvPr id="486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21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490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491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93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494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Gestor de Xitique Digital</a:t>
            </a:r>
          </a:p>
        </p:txBody>
      </p:sp>
      <p:sp>
        <p:nvSpPr>
          <p:cNvPr id="495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496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Para grupos de xitique: regista membros, valor da contribuição, calendário de quem recebe quando, e acompanha pagamentos.</a:t>
            </a:r>
          </a:p>
        </p:txBody>
      </p:sp>
      <p:sp>
        <p:nvSpPr>
          <p:cNvPr id="497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499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SQLite ou localStorage</a:t>
            </a:r>
          </a:p>
        </p:txBody>
      </p:sp>
      <p:sp>
        <p:nvSpPr>
          <p:cNvPr id="500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Maria - Jan</a:t>
            </a:r>
          </a:p>
        </p:txBody>
      </p:sp>
      <p:sp>
        <p:nvSpPr>
          <p:cNvPr id="502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10 000</a:t>
            </a:r>
          </a:p>
        </p:txBody>
      </p:sp>
      <p:sp>
        <p:nvSpPr>
          <p:cNvPr id="503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João - Fev</a:t>
            </a:r>
          </a:p>
        </p:txBody>
      </p:sp>
      <p:sp>
        <p:nvSpPr>
          <p:cNvPr id="505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10 000</a:t>
            </a:r>
          </a:p>
        </p:txBody>
      </p:sp>
      <p:sp>
        <p:nvSpPr>
          <p:cNvPr id="506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Ana - Mar</a:t>
            </a:r>
          </a:p>
        </p:txBody>
      </p:sp>
      <p:sp>
        <p:nvSpPr>
          <p:cNvPr id="508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Pendente</a:t>
            </a:r>
          </a:p>
        </p:txBody>
      </p:sp>
      <p:sp>
        <p:nvSpPr>
          <p:cNvPr id="509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22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2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513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514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16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517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Tracker de Horas Freelancer</a:t>
            </a:r>
          </a:p>
        </p:txBody>
      </p:sp>
      <p:sp>
        <p:nvSpPr>
          <p:cNvPr id="518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519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Cronómetro com Iniciar/Parar; cada sessão regista cliente, projecto, descrição, duração. Calcula faturação à taxa horária definida.</a:t>
            </a:r>
          </a:p>
        </p:txBody>
      </p:sp>
      <p:sp>
        <p:nvSpPr>
          <p:cNvPr id="520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522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localStorage + dayjs</a:t>
            </a:r>
          </a:p>
        </p:txBody>
      </p:sp>
      <p:sp>
        <p:nvSpPr>
          <p:cNvPr id="523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HORAS ESTA SEMANA</a:t>
            </a:r>
          </a:p>
        </p:txBody>
      </p:sp>
      <p:sp>
        <p:nvSpPr>
          <p:cNvPr id="525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27.5</a:t>
            </a:r>
          </a:p>
        </p:txBody>
      </p:sp>
      <p:sp>
        <p:nvSpPr>
          <p:cNvPr id="526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27 500 MT à taxa actual</a:t>
            </a:r>
          </a:p>
        </p:txBody>
      </p:sp>
      <p:sp>
        <p:nvSpPr>
          <p:cNvPr id="527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23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53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53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3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535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Calculadora de Taxa Cambial Justa</a:t>
            </a:r>
          </a:p>
        </p:txBody>
      </p:sp>
      <p:sp>
        <p:nvSpPr>
          <p:cNvPr id="53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53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Quando alguém te paga em USD ou EUR via PayPal/Wise, mostra quanto deverias receber em MT à taxa real do BCM, e compara com o que cada plataforma oferece.</a:t>
            </a:r>
          </a:p>
        </p:txBody>
      </p:sp>
      <p:sp>
        <p:nvSpPr>
          <p:cNvPr id="53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54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exchangerates.xml + spreads</a:t>
            </a:r>
          </a:p>
        </p:txBody>
      </p:sp>
      <p:sp>
        <p:nvSpPr>
          <p:cNvPr id="54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BCM oficial</a:t>
            </a:r>
          </a:p>
        </p:txBody>
      </p:sp>
      <p:sp>
        <p:nvSpPr>
          <p:cNvPr id="543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64.54</a:t>
            </a:r>
          </a:p>
        </p:txBody>
      </p:sp>
      <p:sp>
        <p:nvSpPr>
          <p:cNvPr id="544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Wise</a:t>
            </a:r>
          </a:p>
        </p:txBody>
      </p:sp>
      <p:sp>
        <p:nvSpPr>
          <p:cNvPr id="546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63.12</a:t>
            </a:r>
          </a:p>
        </p:txBody>
      </p:sp>
      <p:sp>
        <p:nvSpPr>
          <p:cNvPr id="547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PayPal</a:t>
            </a:r>
          </a:p>
        </p:txBody>
      </p:sp>
      <p:sp>
        <p:nvSpPr>
          <p:cNvPr id="549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61.88</a:t>
            </a:r>
          </a:p>
        </p:txBody>
      </p:sp>
      <p:sp>
        <p:nvSpPr>
          <p:cNvPr id="550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3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554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555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57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PESSOAIS</a:t>
            </a:r>
          </a:p>
        </p:txBody>
      </p:sp>
      <p:sp>
        <p:nvSpPr>
          <p:cNvPr id="558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Conversor de Unidades para Construção</a:t>
            </a:r>
          </a:p>
        </p:txBody>
      </p:sp>
      <p:sp>
        <p:nvSpPr>
          <p:cNvPr id="559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560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Em obras moçambicanas mistura-se m, m², m³, sacos de cimento, latas de tinta. App converte entre estas unidades dadas dimensões.</a:t>
            </a:r>
          </a:p>
        </p:txBody>
      </p:sp>
      <p:sp>
        <p:nvSpPr>
          <p:cNvPr id="561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563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constantes (1 saco = 50kg, etc)</a:t>
            </a:r>
          </a:p>
        </p:txBody>
      </p:sp>
      <p:sp>
        <p:nvSpPr>
          <p:cNvPr id="564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5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ÁREA</a:t>
            </a:r>
          </a:p>
        </p:txBody>
      </p:sp>
      <p:sp>
        <p:nvSpPr>
          <p:cNvPr id="566" name="Shape 14"/>
          <p:cNvSpPr/>
          <p:nvPr/>
        </p:nvSpPr>
        <p:spPr>
          <a:xfrm>
            <a:off x="8138159" y="1691639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15"/>
          <p:cNvSpPr txBox="1"/>
          <p:nvPr/>
        </p:nvSpPr>
        <p:spPr>
          <a:xfrm>
            <a:off x="8211311" y="221868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120 m²</a:t>
            </a:r>
          </a:p>
        </p:txBody>
      </p:sp>
      <p:sp>
        <p:nvSpPr>
          <p:cNvPr id="568" name="Text 16"/>
          <p:cNvSpPr txBox="1"/>
          <p:nvPr/>
        </p:nvSpPr>
        <p:spPr>
          <a:xfrm>
            <a:off x="8138159" y="302107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CIMENTO NECESSÁRIO</a:t>
            </a:r>
          </a:p>
        </p:txBody>
      </p:sp>
      <p:sp>
        <p:nvSpPr>
          <p:cNvPr id="569" name="Shape 17"/>
          <p:cNvSpPr/>
          <p:nvPr/>
        </p:nvSpPr>
        <p:spPr>
          <a:xfrm>
            <a:off x="8138159" y="3185160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Text 18"/>
          <p:cNvSpPr txBox="1"/>
          <p:nvPr/>
        </p:nvSpPr>
        <p:spPr>
          <a:xfrm>
            <a:off x="8211311" y="371220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 sacos</a:t>
            </a:r>
          </a:p>
        </p:txBody>
      </p:sp>
      <p:sp>
        <p:nvSpPr>
          <p:cNvPr id="571" name="Shape 19"/>
          <p:cNvSpPr/>
          <p:nvPr/>
        </p:nvSpPr>
        <p:spPr>
          <a:xfrm>
            <a:off x="8138159" y="4541520"/>
            <a:ext cx="3291841" cy="131064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Text 20"/>
          <p:cNvSpPr txBox="1"/>
          <p:nvPr/>
        </p:nvSpPr>
        <p:spPr>
          <a:xfrm>
            <a:off x="8138159" y="5129706"/>
            <a:ext cx="3291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Calcular</a:t>
            </a:r>
          </a:p>
        </p:txBody>
      </p:sp>
      <p:sp>
        <p:nvSpPr>
          <p:cNvPr id="573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25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57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578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9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80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581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Quiz de História de Moçambique</a:t>
            </a:r>
          </a:p>
        </p:txBody>
      </p:sp>
      <p:sp>
        <p:nvSpPr>
          <p:cNvPr id="582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583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Banco de 50 perguntas de escolha múltipla sobre datas-chave (independência, guerra civil, Acordos de Roma, presidências), com pontuação e explicações.</a:t>
            </a:r>
          </a:p>
        </p:txBody>
      </p:sp>
      <p:sp>
        <p:nvSpPr>
          <p:cNvPr id="584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586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JSON com pesquisa</a:t>
            </a:r>
          </a:p>
        </p:txBody>
      </p:sp>
      <p:sp>
        <p:nvSpPr>
          <p:cNvPr id="587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P5/50</a:t>
            </a:r>
          </a:p>
        </p:txBody>
      </p:sp>
      <p:sp>
        <p:nvSpPr>
          <p:cNvPr id="589" name="Shape 14"/>
          <p:cNvSpPr/>
          <p:nvPr/>
        </p:nvSpPr>
        <p:spPr>
          <a:xfrm>
            <a:off x="8138159" y="1691639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Text 15"/>
          <p:cNvSpPr txBox="1"/>
          <p:nvPr/>
        </p:nvSpPr>
        <p:spPr>
          <a:xfrm>
            <a:off x="8211311" y="221868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Quando foi a independência?</a:t>
            </a:r>
          </a:p>
        </p:txBody>
      </p:sp>
      <p:sp>
        <p:nvSpPr>
          <p:cNvPr id="591" name="Text 16"/>
          <p:cNvSpPr txBox="1"/>
          <p:nvPr/>
        </p:nvSpPr>
        <p:spPr>
          <a:xfrm>
            <a:off x="8138159" y="302107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RESPOSTA</a:t>
            </a:r>
          </a:p>
        </p:txBody>
      </p:sp>
      <p:sp>
        <p:nvSpPr>
          <p:cNvPr id="592" name="Shape 17"/>
          <p:cNvSpPr/>
          <p:nvPr/>
        </p:nvSpPr>
        <p:spPr>
          <a:xfrm>
            <a:off x="8138159" y="3185160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3" name="Text 18"/>
          <p:cNvSpPr txBox="1"/>
          <p:nvPr/>
        </p:nvSpPr>
        <p:spPr>
          <a:xfrm>
            <a:off x="8211311" y="371220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25 de Junho de 1975</a:t>
            </a:r>
          </a:p>
        </p:txBody>
      </p:sp>
      <p:sp>
        <p:nvSpPr>
          <p:cNvPr id="594" name="Shape 19"/>
          <p:cNvSpPr/>
          <p:nvPr/>
        </p:nvSpPr>
        <p:spPr>
          <a:xfrm>
            <a:off x="8138159" y="4541520"/>
            <a:ext cx="3291841" cy="131064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5" name="Text 20"/>
          <p:cNvSpPr txBox="1"/>
          <p:nvPr/>
        </p:nvSpPr>
        <p:spPr>
          <a:xfrm>
            <a:off x="8138159" y="5129706"/>
            <a:ext cx="3291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Próxima</a:t>
            </a:r>
          </a:p>
        </p:txBody>
      </p:sp>
      <p:sp>
        <p:nvSpPr>
          <p:cNvPr id="596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26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9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00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01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2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603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604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Flashcards Português-Changana</a:t>
            </a:r>
          </a:p>
        </p:txBody>
      </p:sp>
      <p:sp>
        <p:nvSpPr>
          <p:cNvPr id="605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606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App de flashcards com spaced repetition (intervalo cresce com acertos). 100-200 palavras frequentes em Changana com tradução PT.</a:t>
            </a:r>
          </a:p>
        </p:txBody>
      </p:sp>
      <p:sp>
        <p:nvSpPr>
          <p:cNvPr id="607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609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JSON; Changana.net</a:t>
            </a:r>
          </a:p>
        </p:txBody>
      </p:sp>
      <p:sp>
        <p:nvSpPr>
          <p:cNvPr id="610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" name="Shape 13"/>
          <p:cNvSpPr/>
          <p:nvPr/>
        </p:nvSpPr>
        <p:spPr>
          <a:xfrm>
            <a:off x="8138159" y="1508760"/>
            <a:ext cx="2743201" cy="140208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Text 14"/>
          <p:cNvSpPr txBox="1"/>
          <p:nvPr/>
        </p:nvSpPr>
        <p:spPr>
          <a:xfrm>
            <a:off x="8229600" y="214629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Diz em Changana: obrigado</a:t>
            </a:r>
          </a:p>
        </p:txBody>
      </p:sp>
      <p:sp>
        <p:nvSpPr>
          <p:cNvPr id="613" name="Shape 15"/>
          <p:cNvSpPr/>
          <p:nvPr/>
        </p:nvSpPr>
        <p:spPr>
          <a:xfrm>
            <a:off x="8686800" y="3002279"/>
            <a:ext cx="2743200" cy="1402081"/>
          </a:xfrm>
          <a:prstGeom prst="rect">
            <a:avLst/>
          </a:prstGeom>
          <a:solidFill>
            <a:srgbClr val="FEF3C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Text 16"/>
          <p:cNvSpPr txBox="1"/>
          <p:nvPr/>
        </p:nvSpPr>
        <p:spPr>
          <a:xfrm>
            <a:off x="8778240" y="363982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kanimambo</a:t>
            </a:r>
          </a:p>
        </p:txBody>
      </p:sp>
      <p:sp>
        <p:nvSpPr>
          <p:cNvPr id="615" name="Shape 17"/>
          <p:cNvSpPr/>
          <p:nvPr/>
        </p:nvSpPr>
        <p:spPr>
          <a:xfrm>
            <a:off x="8138159" y="4495800"/>
            <a:ext cx="2743201" cy="140208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Text 18"/>
          <p:cNvSpPr txBox="1"/>
          <p:nvPr/>
        </p:nvSpPr>
        <p:spPr>
          <a:xfrm>
            <a:off x="8229600" y="513334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Correcto. Próximo em 3 dias.</a:t>
            </a:r>
          </a:p>
        </p:txBody>
      </p:sp>
      <p:sp>
        <p:nvSpPr>
          <p:cNvPr id="617" name="Text 19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27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2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2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62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625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Tabuada Interactiva para Crianças</a:t>
            </a:r>
          </a:p>
        </p:txBody>
      </p:sp>
      <p:sp>
        <p:nvSpPr>
          <p:cNvPr id="62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62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Aplicação infantil que pede multiplicações aleatórias com feedback imediato visual e sonoro. Modo competição: quantas acertas em 1 minuto?</a:t>
            </a:r>
          </a:p>
        </p:txBody>
      </p:sp>
      <p:sp>
        <p:nvSpPr>
          <p:cNvPr id="62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63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geração aleatória</a:t>
            </a:r>
          </a:p>
        </p:txBody>
      </p:sp>
      <p:sp>
        <p:nvSpPr>
          <p:cNvPr id="63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QUANTO É?</a:t>
            </a:r>
          </a:p>
        </p:txBody>
      </p:sp>
      <p:sp>
        <p:nvSpPr>
          <p:cNvPr id="633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7 × 8</a:t>
            </a:r>
          </a:p>
        </p:txBody>
      </p:sp>
      <p:sp>
        <p:nvSpPr>
          <p:cNvPr id="634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Tempo: 0:42 - Acertos: 18</a:t>
            </a:r>
          </a:p>
        </p:txBody>
      </p:sp>
      <p:sp>
        <p:nvSpPr>
          <p:cNvPr id="635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28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3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40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1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642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643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Conversor de Notas SNE para ECTS</a:t>
            </a:r>
          </a:p>
        </p:txBody>
      </p:sp>
      <p:sp>
        <p:nvSpPr>
          <p:cNvPr id="644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645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Para estudantes que vão fazer Erasmus ou candidaturas internacionais: converte notas do Sistema Nacional de Educação (0-20) para ECTS (A-F) e GPA americano (0-4.0).</a:t>
            </a:r>
          </a:p>
        </p:txBody>
      </p:sp>
      <p:sp>
        <p:nvSpPr>
          <p:cNvPr id="646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7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648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tabelas de equivalência</a:t>
            </a:r>
          </a:p>
        </p:txBody>
      </p:sp>
      <p:sp>
        <p:nvSpPr>
          <p:cNvPr id="649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" name="Text 13"/>
          <p:cNvSpPr txBox="1"/>
          <p:nvPr/>
        </p:nvSpPr>
        <p:spPr>
          <a:xfrm>
            <a:off x="8138159" y="24246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SNE: 17</a:t>
            </a:r>
          </a:p>
        </p:txBody>
      </p:sp>
      <p:sp>
        <p:nvSpPr>
          <p:cNvPr id="651" name="Text 14"/>
          <p:cNvSpPr txBox="1"/>
          <p:nvPr/>
        </p:nvSpPr>
        <p:spPr>
          <a:xfrm>
            <a:off x="9509759" y="24091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ECTS: B</a:t>
            </a:r>
          </a:p>
        </p:txBody>
      </p:sp>
      <p:sp>
        <p:nvSpPr>
          <p:cNvPr id="652" name="Shape 15"/>
          <p:cNvSpPr/>
          <p:nvPr/>
        </p:nvSpPr>
        <p:spPr>
          <a:xfrm>
            <a:off x="8138159" y="3730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Text 16"/>
          <p:cNvSpPr txBox="1"/>
          <p:nvPr/>
        </p:nvSpPr>
        <p:spPr>
          <a:xfrm>
            <a:off x="8138159" y="47106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SNE: 17</a:t>
            </a:r>
          </a:p>
        </p:txBody>
      </p:sp>
      <p:sp>
        <p:nvSpPr>
          <p:cNvPr id="654" name="Text 17"/>
          <p:cNvSpPr txBox="1"/>
          <p:nvPr/>
        </p:nvSpPr>
        <p:spPr>
          <a:xfrm>
            <a:off x="9509759" y="46951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GPA: 3.7</a:t>
            </a:r>
          </a:p>
        </p:txBody>
      </p:sp>
      <p:sp>
        <p:nvSpPr>
          <p:cNvPr id="655" name="Text 18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29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5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60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1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662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663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Calculadora de Média Ponderada Universitária</a:t>
            </a:r>
          </a:p>
        </p:txBody>
      </p:sp>
      <p:sp>
        <p:nvSpPr>
          <p:cNvPr id="664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665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Estudante introduz disciplinas (nome, créditos, nota), calcula média ponderada e simula impacto de notas futuras ("se tirar 16 a Cálculo, fico com média X").</a:t>
            </a:r>
          </a:p>
        </p:txBody>
      </p:sp>
      <p:sp>
        <p:nvSpPr>
          <p:cNvPr id="666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7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668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localStorage</a:t>
            </a:r>
          </a:p>
        </p:txBody>
      </p:sp>
      <p:sp>
        <p:nvSpPr>
          <p:cNvPr id="669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MÉDIA ACTUAL</a:t>
            </a:r>
          </a:p>
        </p:txBody>
      </p:sp>
      <p:sp>
        <p:nvSpPr>
          <p:cNvPr id="671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14.2</a:t>
            </a:r>
          </a:p>
        </p:txBody>
      </p:sp>
      <p:sp>
        <p:nvSpPr>
          <p:cNvPr id="672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Próximo semestre: alvo 15.0</a:t>
            </a:r>
          </a:p>
        </p:txBody>
      </p:sp>
      <p:sp>
        <p:nvSpPr>
          <p:cNvPr id="673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30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7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78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9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680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681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Vocabulário Inglês para Estudantes Moz</a:t>
            </a:r>
          </a:p>
        </p:txBody>
      </p:sp>
      <p:sp>
        <p:nvSpPr>
          <p:cNvPr id="682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683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Vocabulário académico que aparece em provas (TOEFL, IELTS) e acesso ao ensino superior. Mostra palavra, exemplo, e pede tradução.</a:t>
            </a:r>
          </a:p>
        </p:txBody>
      </p:sp>
      <p:sp>
        <p:nvSpPr>
          <p:cNvPr id="684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5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686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JSON 200-500 palavras com nível</a:t>
            </a:r>
          </a:p>
        </p:txBody>
      </p:sp>
      <p:sp>
        <p:nvSpPr>
          <p:cNvPr id="687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" name="Shape 13"/>
          <p:cNvSpPr/>
          <p:nvPr/>
        </p:nvSpPr>
        <p:spPr>
          <a:xfrm>
            <a:off x="8138159" y="1508760"/>
            <a:ext cx="2743201" cy="140208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9" name="Text 14"/>
          <p:cNvSpPr txBox="1"/>
          <p:nvPr/>
        </p:nvSpPr>
        <p:spPr>
          <a:xfrm>
            <a:off x="8229600" y="214629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Translate: ubiquitous</a:t>
            </a:r>
          </a:p>
        </p:txBody>
      </p:sp>
      <p:sp>
        <p:nvSpPr>
          <p:cNvPr id="690" name="Shape 15"/>
          <p:cNvSpPr/>
          <p:nvPr/>
        </p:nvSpPr>
        <p:spPr>
          <a:xfrm>
            <a:off x="8686800" y="3002279"/>
            <a:ext cx="2743200" cy="1402081"/>
          </a:xfrm>
          <a:prstGeom prst="rect">
            <a:avLst/>
          </a:prstGeom>
          <a:solidFill>
            <a:srgbClr val="FEF3C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1" name="Text 16"/>
          <p:cNvSpPr txBox="1"/>
          <p:nvPr/>
        </p:nvSpPr>
        <p:spPr>
          <a:xfrm>
            <a:off x="8778240" y="363982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omnipresente</a:t>
            </a:r>
          </a:p>
        </p:txBody>
      </p:sp>
      <p:sp>
        <p:nvSpPr>
          <p:cNvPr id="692" name="Shape 17"/>
          <p:cNvSpPr/>
          <p:nvPr/>
        </p:nvSpPr>
        <p:spPr>
          <a:xfrm>
            <a:off x="8138159" y="4495800"/>
            <a:ext cx="2743201" cy="140208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3" name="Text 18"/>
          <p:cNvSpPr txBox="1"/>
          <p:nvPr/>
        </p:nvSpPr>
        <p:spPr>
          <a:xfrm>
            <a:off x="8229600" y="513334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Correct. Level: C1</a:t>
            </a:r>
          </a:p>
        </p:txBody>
      </p:sp>
      <p:sp>
        <p:nvSpPr>
          <p:cNvPr id="694" name="Text 19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31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69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69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70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702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Glossário de Termos Económicos PT-MZ</a:t>
            </a:r>
          </a:p>
        </p:txBody>
      </p:sp>
      <p:sp>
        <p:nvSpPr>
          <p:cNvPr id="70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704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Site procurável com termos económicos explicados em português moçambicano simples. Cada termo tem definição, exemplo Moz, e equivalente em inglês.</a:t>
            </a:r>
          </a:p>
        </p:txBody>
      </p:sp>
      <p:sp>
        <p:nvSpPr>
          <p:cNvPr id="70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70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JSON com 50 termos</a:t>
            </a:r>
          </a:p>
        </p:txBody>
      </p:sp>
      <p:sp>
        <p:nvSpPr>
          <p:cNvPr id="70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Inflação</a:t>
            </a:r>
          </a:p>
        </p:txBody>
      </p:sp>
      <p:sp>
        <p:nvSpPr>
          <p:cNvPr id="710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Aumento geral</a:t>
            </a:r>
          </a:p>
        </p:txBody>
      </p:sp>
      <p:sp>
        <p:nvSpPr>
          <p:cNvPr id="711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2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Mimo</a:t>
            </a:r>
          </a:p>
        </p:txBody>
      </p:sp>
      <p:sp>
        <p:nvSpPr>
          <p:cNvPr id="713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Taxa BCM</a:t>
            </a:r>
          </a:p>
        </p:txBody>
      </p:sp>
      <p:sp>
        <p:nvSpPr>
          <p:cNvPr id="714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Prime</a:t>
            </a:r>
          </a:p>
        </p:txBody>
      </p:sp>
      <p:sp>
        <p:nvSpPr>
          <p:cNvPr id="716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Taxa de banca</a:t>
            </a:r>
          </a:p>
        </p:txBody>
      </p:sp>
      <p:sp>
        <p:nvSpPr>
          <p:cNvPr id="717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32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72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72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72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EDUCAÇÃO</a:t>
            </a:r>
          </a:p>
        </p:txBody>
      </p:sp>
      <p:sp>
        <p:nvSpPr>
          <p:cNvPr id="725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Quiz de Geografia Moçambicana</a:t>
            </a:r>
          </a:p>
        </p:txBody>
      </p:sp>
      <p:sp>
        <p:nvSpPr>
          <p:cNvPr id="72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727" name="Text 8"/>
          <p:cNvSpPr txBox="1"/>
          <p:nvPr/>
        </p:nvSpPr>
        <p:spPr>
          <a:xfrm>
            <a:off x="640080" y="4157280"/>
            <a:ext cx="6858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Mostra mapa de Moz e pede para identificar províncias, capitais, e rios principais.</a:t>
            </a:r>
          </a:p>
        </p:txBody>
      </p:sp>
      <p:sp>
        <p:nvSpPr>
          <p:cNvPr id="72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73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SVG mapa + dados</a:t>
            </a:r>
          </a:p>
        </p:txBody>
      </p:sp>
      <p:sp>
        <p:nvSpPr>
          <p:cNvPr id="73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P3/11</a:t>
            </a:r>
          </a:p>
        </p:txBody>
      </p:sp>
      <p:sp>
        <p:nvSpPr>
          <p:cNvPr id="733" name="Shape 14"/>
          <p:cNvSpPr/>
          <p:nvPr/>
        </p:nvSpPr>
        <p:spPr>
          <a:xfrm>
            <a:off x="8138159" y="1691639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4" name="Text 15"/>
          <p:cNvSpPr txBox="1"/>
          <p:nvPr/>
        </p:nvSpPr>
        <p:spPr>
          <a:xfrm>
            <a:off x="8211311" y="221868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Capital de Cabo Delgado?</a:t>
            </a:r>
          </a:p>
        </p:txBody>
      </p:sp>
      <p:sp>
        <p:nvSpPr>
          <p:cNvPr id="735" name="Text 16"/>
          <p:cNvSpPr txBox="1"/>
          <p:nvPr/>
        </p:nvSpPr>
        <p:spPr>
          <a:xfrm>
            <a:off x="8138159" y="302107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RESPOSTA</a:t>
            </a:r>
          </a:p>
        </p:txBody>
      </p:sp>
      <p:sp>
        <p:nvSpPr>
          <p:cNvPr id="736" name="Shape 17"/>
          <p:cNvSpPr/>
          <p:nvPr/>
        </p:nvSpPr>
        <p:spPr>
          <a:xfrm>
            <a:off x="8138159" y="3185160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7" name="Text 18"/>
          <p:cNvSpPr txBox="1"/>
          <p:nvPr/>
        </p:nvSpPr>
        <p:spPr>
          <a:xfrm>
            <a:off x="8211311" y="371220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Pemba</a:t>
            </a:r>
          </a:p>
        </p:txBody>
      </p:sp>
      <p:sp>
        <p:nvSpPr>
          <p:cNvPr id="738" name="Shape 19"/>
          <p:cNvSpPr/>
          <p:nvPr/>
        </p:nvSpPr>
        <p:spPr>
          <a:xfrm>
            <a:off x="8138159" y="4541520"/>
            <a:ext cx="3291841" cy="131064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9" name="Text 20"/>
          <p:cNvSpPr txBox="1"/>
          <p:nvPr/>
        </p:nvSpPr>
        <p:spPr>
          <a:xfrm>
            <a:off x="8138159" y="5129706"/>
            <a:ext cx="3291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Próxima</a:t>
            </a:r>
          </a:p>
        </p:txBody>
      </p:sp>
      <p:sp>
        <p:nvSpPr>
          <p:cNvPr id="740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33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3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744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745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6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747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748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Templates de Contratos para Freelancers Moz</a:t>
            </a:r>
          </a:p>
        </p:txBody>
      </p:sp>
      <p:sp>
        <p:nvSpPr>
          <p:cNvPr id="749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750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5-10 templates editáveis (prestação de serviços, NDA, parceria) adaptados ao contexto legal moçambicano. Utilizador preenche e descarrega em PDF/Word.</a:t>
            </a:r>
          </a:p>
        </p:txBody>
      </p:sp>
      <p:sp>
        <p:nvSpPr>
          <p:cNvPr id="751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2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753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templates redigidos</a:t>
            </a:r>
          </a:p>
        </p:txBody>
      </p:sp>
      <p:sp>
        <p:nvSpPr>
          <p:cNvPr id="754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TIPO</a:t>
            </a:r>
          </a:p>
        </p:txBody>
      </p:sp>
      <p:sp>
        <p:nvSpPr>
          <p:cNvPr id="756" name="Shape 14"/>
          <p:cNvSpPr/>
          <p:nvPr/>
        </p:nvSpPr>
        <p:spPr>
          <a:xfrm>
            <a:off x="8138159" y="1691639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7" name="Text 15"/>
          <p:cNvSpPr txBox="1"/>
          <p:nvPr/>
        </p:nvSpPr>
        <p:spPr>
          <a:xfrm>
            <a:off x="8211311" y="221868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Prestação de serviços</a:t>
            </a:r>
          </a:p>
        </p:txBody>
      </p:sp>
      <p:sp>
        <p:nvSpPr>
          <p:cNvPr id="758" name="Text 16"/>
          <p:cNvSpPr txBox="1"/>
          <p:nvPr/>
        </p:nvSpPr>
        <p:spPr>
          <a:xfrm>
            <a:off x="8138159" y="302107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VALOR</a:t>
            </a:r>
          </a:p>
        </p:txBody>
      </p:sp>
      <p:sp>
        <p:nvSpPr>
          <p:cNvPr id="759" name="Shape 17"/>
          <p:cNvSpPr/>
          <p:nvPr/>
        </p:nvSpPr>
        <p:spPr>
          <a:xfrm>
            <a:off x="8138159" y="3185160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Text 18"/>
          <p:cNvSpPr txBox="1"/>
          <p:nvPr/>
        </p:nvSpPr>
        <p:spPr>
          <a:xfrm>
            <a:off x="8211311" y="371220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50 000 MT/mês</a:t>
            </a:r>
          </a:p>
        </p:txBody>
      </p:sp>
      <p:sp>
        <p:nvSpPr>
          <p:cNvPr id="761" name="Shape 19"/>
          <p:cNvSpPr/>
          <p:nvPr/>
        </p:nvSpPr>
        <p:spPr>
          <a:xfrm>
            <a:off x="8138159" y="4541520"/>
            <a:ext cx="3291841" cy="131064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Text 20"/>
          <p:cNvSpPr txBox="1"/>
          <p:nvPr/>
        </p:nvSpPr>
        <p:spPr>
          <a:xfrm>
            <a:off x="8138159" y="5129706"/>
            <a:ext cx="3291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Gerar contrato</a:t>
            </a:r>
          </a:p>
        </p:txBody>
      </p:sp>
      <p:sp>
        <p:nvSpPr>
          <p:cNvPr id="763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34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76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768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9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770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771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Calculadora de Pricing para Freelancers</a:t>
            </a:r>
          </a:p>
        </p:txBody>
      </p:sp>
      <p:sp>
        <p:nvSpPr>
          <p:cNvPr id="772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773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Insere despesas mensais, horas que quer trabalhar, margem desejada. App calcula taxa horária mínima sustentável em MZN e USD.</a:t>
            </a:r>
          </a:p>
        </p:txBody>
      </p:sp>
      <p:sp>
        <p:nvSpPr>
          <p:cNvPr id="774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5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776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BCM proxy</a:t>
            </a:r>
          </a:p>
        </p:txBody>
      </p:sp>
      <p:sp>
        <p:nvSpPr>
          <p:cNvPr id="777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TAXA MÍNIMA</a:t>
            </a:r>
          </a:p>
        </p:txBody>
      </p:sp>
      <p:sp>
        <p:nvSpPr>
          <p:cNvPr id="779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850</a:t>
            </a:r>
          </a:p>
        </p:txBody>
      </p:sp>
      <p:sp>
        <p:nvSpPr>
          <p:cNvPr id="780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MT/hora ou ~13 USD/hora</a:t>
            </a:r>
          </a:p>
        </p:txBody>
      </p:sp>
      <p:sp>
        <p:nvSpPr>
          <p:cNvPr id="781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35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4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785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786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7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788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789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Gestor Simples de Stock para Pequeno Comércio</a:t>
            </a:r>
          </a:p>
        </p:txBody>
      </p:sp>
      <p:sp>
        <p:nvSpPr>
          <p:cNvPr id="790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791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Lista de produtos com nome, quantidade, preço de custo, preço de venda, alerta visual de stock baixo. Histórico de movimentos.</a:t>
            </a:r>
          </a:p>
        </p:txBody>
      </p:sp>
      <p:sp>
        <p:nvSpPr>
          <p:cNvPr id="792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3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794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SQLite ou localStorage</a:t>
            </a:r>
          </a:p>
        </p:txBody>
      </p:sp>
      <p:sp>
        <p:nvSpPr>
          <p:cNvPr id="795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Coca-Cola 1L</a:t>
            </a:r>
          </a:p>
        </p:txBody>
      </p:sp>
      <p:sp>
        <p:nvSpPr>
          <p:cNvPr id="797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 un</a:t>
            </a:r>
          </a:p>
        </p:txBody>
      </p:sp>
      <p:sp>
        <p:nvSpPr>
          <p:cNvPr id="798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9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Pão</a:t>
            </a:r>
          </a:p>
        </p:txBody>
      </p:sp>
      <p:sp>
        <p:nvSpPr>
          <p:cNvPr id="800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 un - alerta</a:t>
            </a:r>
          </a:p>
        </p:txBody>
      </p:sp>
      <p:sp>
        <p:nvSpPr>
          <p:cNvPr id="801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2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Arroz 5kg</a:t>
            </a:r>
          </a:p>
        </p:txBody>
      </p:sp>
      <p:sp>
        <p:nvSpPr>
          <p:cNvPr id="803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30 un</a:t>
            </a:r>
          </a:p>
        </p:txBody>
      </p:sp>
      <p:sp>
        <p:nvSpPr>
          <p:cNvPr id="804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36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80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80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81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812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Comparador de Internet em Moz</a:t>
            </a:r>
          </a:p>
        </p:txBody>
      </p:sp>
      <p:sp>
        <p:nvSpPr>
          <p:cNvPr id="81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814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Tabela comparativa Tmcel, Vodacom, Movitel: GB, preço, validade, custo por GB. Mostra "melhor para ti" com base em quantos GB usas/mês.</a:t>
            </a:r>
          </a:p>
        </p:txBody>
      </p:sp>
      <p:sp>
        <p:nvSpPr>
          <p:cNvPr id="81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81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tabelas hard-coded ou scraping</a:t>
            </a:r>
          </a:p>
        </p:txBody>
      </p:sp>
      <p:sp>
        <p:nvSpPr>
          <p:cNvPr id="81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" name="Text 13"/>
          <p:cNvSpPr txBox="1"/>
          <p:nvPr/>
        </p:nvSpPr>
        <p:spPr>
          <a:xfrm>
            <a:off x="8138159" y="1559560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900">
                <a:solidFill>
                  <a:srgbClr val="78716C"/>
                </a:solidFill>
              </a:defRPr>
            </a:lvl1pPr>
          </a:lstStyle>
          <a:p>
            <a:pPr/>
            <a:r>
              <a:t>Operadora    MT/GB</a:t>
            </a:r>
          </a:p>
        </p:txBody>
      </p:sp>
      <p:sp>
        <p:nvSpPr>
          <p:cNvPr id="820" name="Shape 14"/>
          <p:cNvSpPr/>
          <p:nvPr/>
        </p:nvSpPr>
        <p:spPr>
          <a:xfrm>
            <a:off x="8138159" y="1737360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1" name="Text 15"/>
          <p:cNvSpPr txBox="1"/>
          <p:nvPr/>
        </p:nvSpPr>
        <p:spPr>
          <a:xfrm>
            <a:off x="8138159" y="2359196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1917"/>
                </a:solidFill>
              </a:defRPr>
            </a:lvl1pPr>
          </a:lstStyle>
          <a:p>
            <a:pPr/>
            <a:r>
              <a:t>Vodacom</a:t>
            </a:r>
          </a:p>
        </p:txBody>
      </p:sp>
      <p:sp>
        <p:nvSpPr>
          <p:cNvPr id="822" name="Text 16"/>
          <p:cNvSpPr txBox="1"/>
          <p:nvPr/>
        </p:nvSpPr>
        <p:spPr>
          <a:xfrm>
            <a:off x="9784080" y="2351531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12.50</a:t>
            </a:r>
          </a:p>
        </p:txBody>
      </p:sp>
      <p:sp>
        <p:nvSpPr>
          <p:cNvPr id="823" name="Text 17"/>
          <p:cNvSpPr txBox="1"/>
          <p:nvPr/>
        </p:nvSpPr>
        <p:spPr>
          <a:xfrm>
            <a:off x="8138159" y="3791756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1917"/>
                </a:solidFill>
              </a:defRPr>
            </a:lvl1pPr>
          </a:lstStyle>
          <a:p>
            <a:pPr/>
            <a:r>
              <a:t>Tmcel</a:t>
            </a:r>
          </a:p>
        </p:txBody>
      </p:sp>
      <p:sp>
        <p:nvSpPr>
          <p:cNvPr id="824" name="Text 18"/>
          <p:cNvSpPr txBox="1"/>
          <p:nvPr/>
        </p:nvSpPr>
        <p:spPr>
          <a:xfrm>
            <a:off x="9784080" y="3784091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10.00</a:t>
            </a:r>
          </a:p>
        </p:txBody>
      </p:sp>
      <p:sp>
        <p:nvSpPr>
          <p:cNvPr id="825" name="Text 19"/>
          <p:cNvSpPr txBox="1"/>
          <p:nvPr/>
        </p:nvSpPr>
        <p:spPr>
          <a:xfrm>
            <a:off x="8138159" y="5224316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1917"/>
                </a:solidFill>
              </a:defRPr>
            </a:lvl1pPr>
          </a:lstStyle>
          <a:p>
            <a:pPr/>
            <a:r>
              <a:t>Movitel</a:t>
            </a:r>
          </a:p>
        </p:txBody>
      </p:sp>
      <p:sp>
        <p:nvSpPr>
          <p:cNvPr id="826" name="Text 20"/>
          <p:cNvSpPr txBox="1"/>
          <p:nvPr/>
        </p:nvSpPr>
        <p:spPr>
          <a:xfrm>
            <a:off x="9784080" y="5216652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11.20</a:t>
            </a:r>
          </a:p>
        </p:txBody>
      </p:sp>
      <p:sp>
        <p:nvSpPr>
          <p:cNvPr id="827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37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83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83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83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835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Gerador de Recibos de Renda</a:t>
            </a:r>
          </a:p>
        </p:txBody>
      </p:sp>
      <p:sp>
        <p:nvSpPr>
          <p:cNvPr id="83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83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Para senhorios pequenos: formulário com nome do inquilino, mês, valor, gera PDF com recibo formal.</a:t>
            </a:r>
          </a:p>
        </p:txBody>
      </p:sp>
      <p:sp>
        <p:nvSpPr>
          <p:cNvPr id="83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84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jspdf</a:t>
            </a:r>
          </a:p>
        </p:txBody>
      </p:sp>
      <p:sp>
        <p:nvSpPr>
          <p:cNvPr id="84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INQUILINO</a:t>
            </a:r>
          </a:p>
        </p:txBody>
      </p:sp>
      <p:sp>
        <p:nvSpPr>
          <p:cNvPr id="843" name="Shape 14"/>
          <p:cNvSpPr/>
          <p:nvPr/>
        </p:nvSpPr>
        <p:spPr>
          <a:xfrm>
            <a:off x="8138159" y="1691639"/>
            <a:ext cx="3291841" cy="84582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4" name="Text 15"/>
          <p:cNvSpPr txBox="1"/>
          <p:nvPr/>
        </p:nvSpPr>
        <p:spPr>
          <a:xfrm>
            <a:off x="8211311" y="2032000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Carlos M.</a:t>
            </a:r>
          </a:p>
        </p:txBody>
      </p:sp>
      <p:sp>
        <p:nvSpPr>
          <p:cNvPr id="845" name="Text 16"/>
          <p:cNvSpPr txBox="1"/>
          <p:nvPr/>
        </p:nvSpPr>
        <p:spPr>
          <a:xfrm>
            <a:off x="8138159" y="264769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MÊS</a:t>
            </a:r>
          </a:p>
        </p:txBody>
      </p:sp>
      <p:sp>
        <p:nvSpPr>
          <p:cNvPr id="846" name="Shape 17"/>
          <p:cNvSpPr/>
          <p:nvPr/>
        </p:nvSpPr>
        <p:spPr>
          <a:xfrm>
            <a:off x="8138159" y="2811779"/>
            <a:ext cx="3291841" cy="84582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7" name="Text 18"/>
          <p:cNvSpPr txBox="1"/>
          <p:nvPr/>
        </p:nvSpPr>
        <p:spPr>
          <a:xfrm>
            <a:off x="8211311" y="315213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Abril 2026</a:t>
            </a:r>
          </a:p>
        </p:txBody>
      </p:sp>
      <p:sp>
        <p:nvSpPr>
          <p:cNvPr id="848" name="Text 19"/>
          <p:cNvSpPr txBox="1"/>
          <p:nvPr/>
        </p:nvSpPr>
        <p:spPr>
          <a:xfrm>
            <a:off x="8138159" y="376783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VALOR</a:t>
            </a:r>
          </a:p>
        </p:txBody>
      </p:sp>
      <p:sp>
        <p:nvSpPr>
          <p:cNvPr id="849" name="Shape 20"/>
          <p:cNvSpPr/>
          <p:nvPr/>
        </p:nvSpPr>
        <p:spPr>
          <a:xfrm>
            <a:off x="8138159" y="3931920"/>
            <a:ext cx="3291841" cy="84582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0" name="Text 21"/>
          <p:cNvSpPr txBox="1"/>
          <p:nvPr/>
        </p:nvSpPr>
        <p:spPr>
          <a:xfrm>
            <a:off x="8211311" y="427227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8 500 MT</a:t>
            </a:r>
          </a:p>
        </p:txBody>
      </p:sp>
      <p:sp>
        <p:nvSpPr>
          <p:cNvPr id="851" name="Shape 22"/>
          <p:cNvSpPr/>
          <p:nvPr/>
        </p:nvSpPr>
        <p:spPr>
          <a:xfrm>
            <a:off x="8138159" y="4914900"/>
            <a:ext cx="3291841" cy="93726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2" name="Text 23"/>
          <p:cNvSpPr txBox="1"/>
          <p:nvPr/>
        </p:nvSpPr>
        <p:spPr>
          <a:xfrm>
            <a:off x="8138159" y="5316396"/>
            <a:ext cx="3291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Gerar recibo</a:t>
            </a:r>
          </a:p>
        </p:txBody>
      </p:sp>
      <p:sp>
        <p:nvSpPr>
          <p:cNvPr id="853" name="Text 24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38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6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857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858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9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860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861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Tracker de Comissões de Mukheristas</a:t>
            </a:r>
          </a:p>
        </p:txBody>
      </p:sp>
      <p:sp>
        <p:nvSpPr>
          <p:cNvPr id="862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863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Para vendedores ambulantes/mukheristas: regista venda (item, valor, comissão %), calcula totais diários e mensais.</a:t>
            </a:r>
          </a:p>
        </p:txBody>
      </p:sp>
      <p:sp>
        <p:nvSpPr>
          <p:cNvPr id="864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5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866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localStorage</a:t>
            </a:r>
          </a:p>
        </p:txBody>
      </p:sp>
      <p:sp>
        <p:nvSpPr>
          <p:cNvPr id="867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Hoje</a:t>
            </a:r>
          </a:p>
        </p:txBody>
      </p:sp>
      <p:sp>
        <p:nvSpPr>
          <p:cNvPr id="869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 vendas</a:t>
            </a:r>
          </a:p>
        </p:txBody>
      </p:sp>
      <p:sp>
        <p:nvSpPr>
          <p:cNvPr id="870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1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Comissão</a:t>
            </a:r>
          </a:p>
        </p:txBody>
      </p:sp>
      <p:sp>
        <p:nvSpPr>
          <p:cNvPr id="872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1 850 MT</a:t>
            </a:r>
          </a:p>
        </p:txBody>
      </p:sp>
      <p:sp>
        <p:nvSpPr>
          <p:cNvPr id="873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4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Mês</a:t>
            </a:r>
          </a:p>
        </p:txBody>
      </p:sp>
      <p:sp>
        <p:nvSpPr>
          <p:cNvPr id="875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47 200 MT</a:t>
            </a:r>
          </a:p>
        </p:txBody>
      </p:sp>
      <p:sp>
        <p:nvSpPr>
          <p:cNvPr id="876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39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9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880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881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2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883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NEGÓCIOS</a:t>
            </a:r>
          </a:p>
        </p:txBody>
      </p:sp>
      <p:sp>
        <p:nvSpPr>
          <p:cNvPr id="884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Simulador de Obrigações do Tesouro Moz</a:t>
            </a:r>
          </a:p>
        </p:txBody>
      </p:sp>
      <p:sp>
        <p:nvSpPr>
          <p:cNvPr id="885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886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Escolhe obrigação (12, 24, 36 meses), valor, taxa de juro; projecta retorno bruto, IRPS sobre juros, e líquido.</a:t>
            </a:r>
          </a:p>
        </p:txBody>
      </p:sp>
      <p:sp>
        <p:nvSpPr>
          <p:cNvPr id="887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8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889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taxas BCM/MEF</a:t>
            </a:r>
          </a:p>
        </p:txBody>
      </p:sp>
      <p:sp>
        <p:nvSpPr>
          <p:cNvPr id="890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RETORNO LÍQUIDO 24M</a:t>
            </a:r>
          </a:p>
        </p:txBody>
      </p:sp>
      <p:sp>
        <p:nvSpPr>
          <p:cNvPr id="892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118 540</a:t>
            </a:r>
          </a:p>
        </p:txBody>
      </p:sp>
      <p:sp>
        <p:nvSpPr>
          <p:cNvPr id="893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Investido: 100 000 MT</a:t>
            </a:r>
          </a:p>
        </p:txBody>
      </p:sp>
      <p:sp>
        <p:nvSpPr>
          <p:cNvPr id="894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40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89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89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31</a:t>
            </a:r>
          </a:p>
        </p:txBody>
      </p:sp>
      <p:sp>
        <p:nvSpPr>
          <p:cNvPr id="90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902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Directório de Restaurantes em Maputo</a:t>
            </a:r>
          </a:p>
        </p:txBody>
      </p:sp>
      <p:sp>
        <p:nvSpPr>
          <p:cNvPr id="90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904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Lista filtrável por bairro (Polana, Sommerschield, Baixa) e tipo de cozinha. Cada restaurante: nome, descrição, preços, foto.</a:t>
            </a:r>
          </a:p>
        </p:txBody>
      </p:sp>
      <p:sp>
        <p:nvSpPr>
          <p:cNvPr id="90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90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JSON 30-50 entradas curadas</a:t>
            </a:r>
          </a:p>
        </p:txBody>
      </p:sp>
      <p:sp>
        <p:nvSpPr>
          <p:cNvPr id="90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Cervejaria Continental</a:t>
            </a:r>
          </a:p>
        </p:txBody>
      </p:sp>
      <p:sp>
        <p:nvSpPr>
          <p:cNvPr id="910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Baixa, 250-400</a:t>
            </a:r>
          </a:p>
        </p:txBody>
      </p:sp>
      <p:sp>
        <p:nvSpPr>
          <p:cNvPr id="911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2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Mundo's</a:t>
            </a:r>
          </a:p>
        </p:txBody>
      </p:sp>
      <p:sp>
        <p:nvSpPr>
          <p:cNvPr id="913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Polana, 400-700</a:t>
            </a:r>
          </a:p>
        </p:txBody>
      </p:sp>
      <p:sp>
        <p:nvSpPr>
          <p:cNvPr id="914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5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Costa do Sol</a:t>
            </a:r>
          </a:p>
        </p:txBody>
      </p:sp>
      <p:sp>
        <p:nvSpPr>
          <p:cNvPr id="916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Costa, 200-350</a:t>
            </a:r>
          </a:p>
        </p:txBody>
      </p:sp>
      <p:sp>
        <p:nvSpPr>
          <p:cNvPr id="917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41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92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92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92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925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Calculadora de Distâncias entre Cidades Moz</a:t>
            </a:r>
          </a:p>
        </p:txBody>
      </p:sp>
      <p:sp>
        <p:nvSpPr>
          <p:cNvPr id="92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92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Selecciona origem e destino; mostra distância rodoviária, tempo estimado, e custo de combustível.</a:t>
            </a:r>
          </a:p>
        </p:txBody>
      </p:sp>
      <p:sp>
        <p:nvSpPr>
          <p:cNvPr id="92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93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matriz de distâncias JSON</a:t>
            </a:r>
          </a:p>
        </p:txBody>
      </p:sp>
      <p:sp>
        <p:nvSpPr>
          <p:cNvPr id="93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" name="Text 13"/>
          <p:cNvSpPr txBox="1"/>
          <p:nvPr/>
        </p:nvSpPr>
        <p:spPr>
          <a:xfrm>
            <a:off x="8138159" y="157738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78716C"/>
                </a:solidFill>
              </a:defRPr>
            </a:lvl1pPr>
          </a:lstStyle>
          <a:p>
            <a:pPr/>
            <a:r>
              <a:t>MAPUTO -&gt; BEIRA</a:t>
            </a:r>
          </a:p>
        </p:txBody>
      </p:sp>
      <p:sp>
        <p:nvSpPr>
          <p:cNvPr id="933" name="Text 14"/>
          <p:cNvSpPr txBox="1"/>
          <p:nvPr/>
        </p:nvSpPr>
        <p:spPr>
          <a:xfrm>
            <a:off x="8138159" y="3502659"/>
            <a:ext cx="32918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67C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1 191 km</a:t>
            </a:r>
          </a:p>
        </p:txBody>
      </p:sp>
      <p:sp>
        <p:nvSpPr>
          <p:cNvPr id="934" name="Text 15"/>
          <p:cNvSpPr txBox="1"/>
          <p:nvPr/>
        </p:nvSpPr>
        <p:spPr>
          <a:xfrm>
            <a:off x="8138159" y="5783624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</a:defRPr>
            </a:lvl1pPr>
          </a:lstStyle>
          <a:p>
            <a:pPr/>
            <a:r>
              <a:t>16h, ~9 500 MT em combustível</a:t>
            </a:r>
          </a:p>
        </p:txBody>
      </p:sp>
      <p:sp>
        <p:nvSpPr>
          <p:cNvPr id="935" name="Text 16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42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8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939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940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1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33</a:t>
            </a:r>
          </a:p>
        </p:txBody>
      </p:sp>
      <p:sp>
        <p:nvSpPr>
          <p:cNvPr id="942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943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Calendário de Feriados Moçambicanos</a:t>
            </a:r>
          </a:p>
        </p:txBody>
      </p:sp>
      <p:sp>
        <p:nvSpPr>
          <p:cNvPr id="944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945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Mostra todos os feriados oficiais do ano (Independência, Mulher Moçambicana, etc) com descrição histórica. Conta dias até ao próximo.</a:t>
            </a:r>
          </a:p>
        </p:txBody>
      </p:sp>
      <p:sp>
        <p:nvSpPr>
          <p:cNvPr id="946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7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948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datas oficiais hard-coded</a:t>
            </a:r>
          </a:p>
        </p:txBody>
      </p:sp>
      <p:sp>
        <p:nvSpPr>
          <p:cNvPr id="949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7 Abril</a:t>
            </a:r>
          </a:p>
        </p:txBody>
      </p:sp>
      <p:sp>
        <p:nvSpPr>
          <p:cNvPr id="951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Mulher Moçambicana</a:t>
            </a:r>
          </a:p>
        </p:txBody>
      </p:sp>
      <p:sp>
        <p:nvSpPr>
          <p:cNvPr id="952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3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1 Maio</a:t>
            </a:r>
          </a:p>
        </p:txBody>
      </p:sp>
      <p:sp>
        <p:nvSpPr>
          <p:cNvPr id="954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Trabalhador</a:t>
            </a:r>
          </a:p>
        </p:txBody>
      </p:sp>
      <p:sp>
        <p:nvSpPr>
          <p:cNvPr id="955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6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25 Junho</a:t>
            </a:r>
          </a:p>
        </p:txBody>
      </p:sp>
      <p:sp>
        <p:nvSpPr>
          <p:cNvPr id="957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Independência</a:t>
            </a:r>
          </a:p>
        </p:txBody>
      </p:sp>
      <p:sp>
        <p:nvSpPr>
          <p:cNvPr id="958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43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1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962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963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4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965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966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Mapa de Rotas dos Chapas em Maputo</a:t>
            </a:r>
          </a:p>
        </p:txBody>
      </p:sp>
      <p:sp>
        <p:nvSpPr>
          <p:cNvPr id="967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968" name="Text 8"/>
          <p:cNvSpPr txBox="1"/>
          <p:nvPr/>
        </p:nvSpPr>
        <p:spPr>
          <a:xfrm>
            <a:off x="640080" y="4157280"/>
            <a:ext cx="6858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Mapa interactivo com rotas principais (Magoanine-Baixa, Hulene-Praça) e pontos-chave.</a:t>
            </a:r>
          </a:p>
        </p:txBody>
      </p:sp>
      <p:sp>
        <p:nvSpPr>
          <p:cNvPr id="969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0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971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GeoJSON curado</a:t>
            </a:r>
          </a:p>
        </p:txBody>
      </p:sp>
      <p:sp>
        <p:nvSpPr>
          <p:cNvPr id="972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Hulene -&gt; Praça</a:t>
            </a:r>
          </a:p>
        </p:txBody>
      </p:sp>
      <p:sp>
        <p:nvSpPr>
          <p:cNvPr id="974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11 km</a:t>
            </a:r>
          </a:p>
        </p:txBody>
      </p:sp>
      <p:sp>
        <p:nvSpPr>
          <p:cNvPr id="975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6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Magoanine -&gt; Baixa</a:t>
            </a:r>
          </a:p>
        </p:txBody>
      </p:sp>
      <p:sp>
        <p:nvSpPr>
          <p:cNvPr id="977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9 km</a:t>
            </a:r>
          </a:p>
        </p:txBody>
      </p:sp>
      <p:sp>
        <p:nvSpPr>
          <p:cNvPr id="978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9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Costa -&gt; Aeroporto</a:t>
            </a:r>
          </a:p>
        </p:txBody>
      </p:sp>
      <p:sp>
        <p:nvSpPr>
          <p:cNvPr id="980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 km</a:t>
            </a:r>
          </a:p>
        </p:txBody>
      </p:sp>
      <p:sp>
        <p:nvSpPr>
          <p:cNvPr id="981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44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4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985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986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7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988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989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Tradutor de Saudações para Línguas Moz</a:t>
            </a:r>
          </a:p>
        </p:txBody>
      </p:sp>
      <p:sp>
        <p:nvSpPr>
          <p:cNvPr id="990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★☆☆</a:t>
            </a:r>
          </a:p>
        </p:txBody>
      </p:sp>
      <p:sp>
        <p:nvSpPr>
          <p:cNvPr id="991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Selecciona uma língua (Changana, Macua, Sena, Ndau) e mostra como dizer saudações comuns. Inclui transcrição fonética.</a:t>
            </a:r>
          </a:p>
        </p:txBody>
      </p:sp>
      <p:sp>
        <p:nvSpPr>
          <p:cNvPr id="992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3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994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JSON com referências</a:t>
            </a:r>
          </a:p>
        </p:txBody>
      </p:sp>
      <p:sp>
        <p:nvSpPr>
          <p:cNvPr id="995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Bom dia (Changana)</a:t>
            </a:r>
          </a:p>
        </p:txBody>
      </p:sp>
      <p:sp>
        <p:nvSpPr>
          <p:cNvPr id="997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Avuxeni</a:t>
            </a:r>
          </a:p>
        </p:txBody>
      </p:sp>
      <p:sp>
        <p:nvSpPr>
          <p:cNvPr id="998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9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Obrigado (Changana)</a:t>
            </a:r>
          </a:p>
        </p:txBody>
      </p:sp>
      <p:sp>
        <p:nvSpPr>
          <p:cNvPr id="1000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Kanimambo</a:t>
            </a:r>
          </a:p>
        </p:txBody>
      </p:sp>
      <p:sp>
        <p:nvSpPr>
          <p:cNvPr id="1001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2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Adeus (Changana)</a:t>
            </a:r>
          </a:p>
        </p:txBody>
      </p:sp>
      <p:sp>
        <p:nvSpPr>
          <p:cNvPr id="1003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Salani</a:t>
            </a:r>
          </a:p>
        </p:txBody>
      </p:sp>
      <p:sp>
        <p:nvSpPr>
          <p:cNvPr id="1004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45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00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00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101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COMUNIDADE</a:t>
            </a:r>
          </a:p>
        </p:txBody>
      </p:sp>
      <p:sp>
        <p:nvSpPr>
          <p:cNvPr id="1012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Conversor de Endereços Informais Maputo</a:t>
            </a:r>
          </a:p>
        </p:txBody>
      </p:sp>
      <p:sp>
        <p:nvSpPr>
          <p:cNvPr id="101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1014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Em Maputo muitos endereços são informais. App permite registar pontos de referência e cria descrição estruturada para partilhar.</a:t>
            </a:r>
          </a:p>
        </p:txBody>
      </p:sp>
      <p:sp>
        <p:nvSpPr>
          <p:cNvPr id="101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101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localStorage</a:t>
            </a:r>
          </a:p>
        </p:txBody>
      </p:sp>
      <p:sp>
        <p:nvSpPr>
          <p:cNvPr id="101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" name="Text 13"/>
          <p:cNvSpPr txBox="1"/>
          <p:nvPr/>
        </p:nvSpPr>
        <p:spPr>
          <a:xfrm>
            <a:off x="8138159" y="1527556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RUA</a:t>
            </a:r>
          </a:p>
        </p:txBody>
      </p:sp>
      <p:sp>
        <p:nvSpPr>
          <p:cNvPr id="1020" name="Shape 14"/>
          <p:cNvSpPr/>
          <p:nvPr/>
        </p:nvSpPr>
        <p:spPr>
          <a:xfrm>
            <a:off x="8138159" y="1691639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1" name="Text 15"/>
          <p:cNvSpPr txBox="1"/>
          <p:nvPr/>
        </p:nvSpPr>
        <p:spPr>
          <a:xfrm>
            <a:off x="8211311" y="221868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Av Eduardo Mondlane</a:t>
            </a:r>
          </a:p>
        </p:txBody>
      </p:sp>
      <p:sp>
        <p:nvSpPr>
          <p:cNvPr id="1022" name="Text 16"/>
          <p:cNvSpPr txBox="1"/>
          <p:nvPr/>
        </p:nvSpPr>
        <p:spPr>
          <a:xfrm>
            <a:off x="8138159" y="302107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78716C"/>
                </a:solidFill>
              </a:defRPr>
            </a:lvl1pPr>
          </a:lstStyle>
          <a:p>
            <a:pPr/>
            <a:r>
              <a:t>REFERÊNCIA</a:t>
            </a:r>
          </a:p>
        </p:txBody>
      </p:sp>
      <p:sp>
        <p:nvSpPr>
          <p:cNvPr id="1023" name="Shape 17"/>
          <p:cNvSpPr/>
          <p:nvPr/>
        </p:nvSpPr>
        <p:spPr>
          <a:xfrm>
            <a:off x="8138159" y="3185160"/>
            <a:ext cx="3291841" cy="12192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4" name="Text 18"/>
          <p:cNvSpPr txBox="1"/>
          <p:nvPr/>
        </p:nvSpPr>
        <p:spPr>
          <a:xfrm>
            <a:off x="8211311" y="371220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4403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Junto à Brioche</a:t>
            </a:r>
          </a:p>
        </p:txBody>
      </p:sp>
      <p:sp>
        <p:nvSpPr>
          <p:cNvPr id="1025" name="Shape 19"/>
          <p:cNvSpPr/>
          <p:nvPr/>
        </p:nvSpPr>
        <p:spPr>
          <a:xfrm>
            <a:off x="8138159" y="4541520"/>
            <a:ext cx="3291841" cy="131064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6" name="Text 20"/>
          <p:cNvSpPr txBox="1"/>
          <p:nvPr/>
        </p:nvSpPr>
        <p:spPr>
          <a:xfrm>
            <a:off x="8138159" y="5129706"/>
            <a:ext cx="3291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Partilhar</a:t>
            </a:r>
          </a:p>
        </p:txBody>
      </p:sp>
      <p:sp>
        <p:nvSpPr>
          <p:cNvPr id="1027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46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0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031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032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3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37</a:t>
            </a:r>
          </a:p>
        </p:txBody>
      </p:sp>
      <p:sp>
        <p:nvSpPr>
          <p:cNvPr id="1034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DEV</a:t>
            </a:r>
          </a:p>
        </p:txBody>
      </p:sp>
      <p:sp>
        <p:nvSpPr>
          <p:cNvPr id="1035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Boilerplate Django/FastAPI para Projectos Moz</a:t>
            </a:r>
          </a:p>
        </p:txBody>
      </p:sp>
      <p:sp>
        <p:nvSpPr>
          <p:cNvPr id="1036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1037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Template CLI: pergunta nome do projecto e cria pasta com Django/FastAPI configurado: timezone Africa/Maputo, locale pt_MZ, MZN como moeda padrão, validador NUIT.</a:t>
            </a:r>
          </a:p>
        </p:txBody>
      </p:sp>
      <p:sp>
        <p:nvSpPr>
          <p:cNvPr id="1038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9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1040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Cookiecutter</a:t>
            </a:r>
          </a:p>
        </p:txBody>
      </p:sp>
      <p:sp>
        <p:nvSpPr>
          <p:cNvPr id="1041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" name="Shape 13"/>
          <p:cNvSpPr/>
          <p:nvPr/>
        </p:nvSpPr>
        <p:spPr>
          <a:xfrm>
            <a:off x="8686800" y="1508760"/>
            <a:ext cx="2743200" cy="1402081"/>
          </a:xfrm>
          <a:prstGeom prst="rect">
            <a:avLst/>
          </a:prstGeom>
          <a:solidFill>
            <a:srgbClr val="FEF3C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" name="Text 14"/>
          <p:cNvSpPr txBox="1"/>
          <p:nvPr/>
        </p:nvSpPr>
        <p:spPr>
          <a:xfrm>
            <a:off x="8778240" y="214629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$ create-mz-project loja</a:t>
            </a:r>
          </a:p>
        </p:txBody>
      </p:sp>
      <p:sp>
        <p:nvSpPr>
          <p:cNvPr id="1044" name="Shape 15"/>
          <p:cNvSpPr/>
          <p:nvPr/>
        </p:nvSpPr>
        <p:spPr>
          <a:xfrm>
            <a:off x="8138159" y="3002279"/>
            <a:ext cx="2743201" cy="140208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5" name="Text 16"/>
          <p:cNvSpPr txBox="1"/>
          <p:nvPr/>
        </p:nvSpPr>
        <p:spPr>
          <a:xfrm>
            <a:off x="8229600" y="363982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Criando...</a:t>
            </a:r>
          </a:p>
        </p:txBody>
      </p:sp>
      <p:sp>
        <p:nvSpPr>
          <p:cNvPr id="1046" name="Shape 17"/>
          <p:cNvSpPr/>
          <p:nvPr/>
        </p:nvSpPr>
        <p:spPr>
          <a:xfrm>
            <a:off x="8138159" y="4495800"/>
            <a:ext cx="2743201" cy="140208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7" name="Text 18"/>
          <p:cNvSpPr txBox="1"/>
          <p:nvPr/>
        </p:nvSpPr>
        <p:spPr>
          <a:xfrm>
            <a:off x="8229600" y="5124757"/>
            <a:ext cx="2560321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✓ pronto. cd loja &amp;&amp; python manage.py runserver</a:t>
            </a:r>
          </a:p>
        </p:txBody>
      </p:sp>
      <p:sp>
        <p:nvSpPr>
          <p:cNvPr id="1048" name="Text 19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47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1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052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053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4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38</a:t>
            </a:r>
          </a:p>
        </p:txBody>
      </p:sp>
      <p:sp>
        <p:nvSpPr>
          <p:cNvPr id="1055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DEV</a:t>
            </a:r>
          </a:p>
        </p:txBody>
      </p:sp>
      <p:sp>
        <p:nvSpPr>
          <p:cNvPr id="1056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Visualizador de Logs Mobile em Português</a:t>
            </a:r>
          </a:p>
        </p:txBody>
      </p:sp>
      <p:sp>
        <p:nvSpPr>
          <p:cNvPr id="1057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1058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Cola logs do logcat (Android), aplica regex para extrair timestamps, severidade, e mensagens. Tradução automática de erros comuns.</a:t>
            </a:r>
          </a:p>
        </p:txBody>
      </p:sp>
      <p:sp>
        <p:nvSpPr>
          <p:cNvPr id="1059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0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1061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logs + regex</a:t>
            </a:r>
          </a:p>
        </p:txBody>
      </p:sp>
      <p:sp>
        <p:nvSpPr>
          <p:cNvPr id="1062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" name="Text 13"/>
          <p:cNvSpPr txBox="1"/>
          <p:nvPr/>
        </p:nvSpPr>
        <p:spPr>
          <a:xfrm>
            <a:off x="8138159" y="2081706"/>
            <a:ext cx="1371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12:34 ERROR</a:t>
            </a:r>
          </a:p>
        </p:txBody>
      </p:sp>
      <p:sp>
        <p:nvSpPr>
          <p:cNvPr id="1064" name="Text 14"/>
          <p:cNvSpPr txBox="1"/>
          <p:nvPr/>
        </p:nvSpPr>
        <p:spPr>
          <a:xfrm>
            <a:off x="9509759" y="2066289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NullPointer</a:t>
            </a:r>
          </a:p>
        </p:txBody>
      </p:sp>
      <p:sp>
        <p:nvSpPr>
          <p:cNvPr id="1065" name="Shape 15"/>
          <p:cNvSpPr/>
          <p:nvPr/>
        </p:nvSpPr>
        <p:spPr>
          <a:xfrm>
            <a:off x="8138159" y="2968751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6" name="Text 16"/>
          <p:cNvSpPr txBox="1"/>
          <p:nvPr/>
        </p:nvSpPr>
        <p:spPr>
          <a:xfrm>
            <a:off x="8138159" y="3605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12:35 WARN</a:t>
            </a:r>
          </a:p>
        </p:txBody>
      </p:sp>
      <p:sp>
        <p:nvSpPr>
          <p:cNvPr id="1067" name="Text 17"/>
          <p:cNvSpPr txBox="1"/>
          <p:nvPr/>
        </p:nvSpPr>
        <p:spPr>
          <a:xfrm>
            <a:off x="9509759" y="3590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Memória baixa</a:t>
            </a:r>
          </a:p>
        </p:txBody>
      </p:sp>
      <p:sp>
        <p:nvSpPr>
          <p:cNvPr id="1068" name="Shape 18"/>
          <p:cNvSpPr/>
          <p:nvPr/>
        </p:nvSpPr>
        <p:spPr>
          <a:xfrm>
            <a:off x="8138159" y="4492752"/>
            <a:ext cx="3291841" cy="1"/>
          </a:xfrm>
          <a:prstGeom prst="line">
            <a:avLst/>
          </a:prstGeom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9" name="Text 19"/>
          <p:cNvSpPr txBox="1"/>
          <p:nvPr/>
        </p:nvSpPr>
        <p:spPr>
          <a:xfrm>
            <a:off x="8138159" y="5129706"/>
            <a:ext cx="1371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12:36 INFO</a:t>
            </a:r>
          </a:p>
        </p:txBody>
      </p:sp>
      <p:sp>
        <p:nvSpPr>
          <p:cNvPr id="1070" name="Text 20"/>
          <p:cNvSpPr txBox="1"/>
          <p:nvPr/>
        </p:nvSpPr>
        <p:spPr>
          <a:xfrm>
            <a:off x="9509759" y="5114290"/>
            <a:ext cx="19202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App iniciada</a:t>
            </a:r>
          </a:p>
        </p:txBody>
      </p:sp>
      <p:sp>
        <p:nvSpPr>
          <p:cNvPr id="1071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48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4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075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076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7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1078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DEV</a:t>
            </a:r>
          </a:p>
        </p:txBody>
      </p:sp>
      <p:sp>
        <p:nvSpPr>
          <p:cNvPr id="1079" name="Text 6"/>
          <p:cNvSpPr txBox="1"/>
          <p:nvPr/>
        </p:nvSpPr>
        <p:spPr>
          <a:xfrm>
            <a:off x="640080" y="1762760"/>
            <a:ext cx="685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Gerador de READMEs em Português</a:t>
            </a:r>
          </a:p>
        </p:txBody>
      </p:sp>
      <p:sp>
        <p:nvSpPr>
          <p:cNvPr id="1080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★★☆</a:t>
            </a:r>
          </a:p>
        </p:txBody>
      </p:sp>
      <p:sp>
        <p:nvSpPr>
          <p:cNvPr id="1081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CLI ou web app que faz perguntas (nome, descrição, stack, instalação) e gera README.md profissional em português, com badges, índice, e secções padrão.</a:t>
            </a:r>
          </a:p>
        </p:txBody>
      </p:sp>
      <p:sp>
        <p:nvSpPr>
          <p:cNvPr id="1082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3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1084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 + templates</a:t>
            </a:r>
          </a:p>
        </p:txBody>
      </p:sp>
      <p:sp>
        <p:nvSpPr>
          <p:cNvPr id="1085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" name="Shape 13"/>
          <p:cNvSpPr/>
          <p:nvPr/>
        </p:nvSpPr>
        <p:spPr>
          <a:xfrm>
            <a:off x="8138159" y="1508760"/>
            <a:ext cx="2743201" cy="10287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7" name="Text 14"/>
          <p:cNvSpPr txBox="1"/>
          <p:nvPr/>
        </p:nvSpPr>
        <p:spPr>
          <a:xfrm>
            <a:off x="8229600" y="195961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Nome do projecto?</a:t>
            </a:r>
          </a:p>
        </p:txBody>
      </p:sp>
      <p:sp>
        <p:nvSpPr>
          <p:cNvPr id="1088" name="Shape 15"/>
          <p:cNvSpPr/>
          <p:nvPr/>
        </p:nvSpPr>
        <p:spPr>
          <a:xfrm>
            <a:off x="8686800" y="2628900"/>
            <a:ext cx="2743200" cy="1028700"/>
          </a:xfrm>
          <a:prstGeom prst="rect">
            <a:avLst/>
          </a:prstGeom>
          <a:solidFill>
            <a:srgbClr val="FEF3C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9" name="Text 16"/>
          <p:cNvSpPr txBox="1"/>
          <p:nvPr/>
        </p:nvSpPr>
        <p:spPr>
          <a:xfrm>
            <a:off x="8778240" y="307974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metical-conv</a:t>
            </a:r>
          </a:p>
        </p:txBody>
      </p:sp>
      <p:sp>
        <p:nvSpPr>
          <p:cNvPr id="1090" name="Shape 17"/>
          <p:cNvSpPr/>
          <p:nvPr/>
        </p:nvSpPr>
        <p:spPr>
          <a:xfrm>
            <a:off x="8138159" y="3749040"/>
            <a:ext cx="2743201" cy="1028701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1" name="Text 18"/>
          <p:cNvSpPr txBox="1"/>
          <p:nvPr/>
        </p:nvSpPr>
        <p:spPr>
          <a:xfrm>
            <a:off x="8229600" y="419989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Stack?</a:t>
            </a:r>
          </a:p>
        </p:txBody>
      </p:sp>
      <p:sp>
        <p:nvSpPr>
          <p:cNvPr id="1092" name="Shape 19"/>
          <p:cNvSpPr/>
          <p:nvPr/>
        </p:nvSpPr>
        <p:spPr>
          <a:xfrm>
            <a:off x="8686800" y="4869179"/>
            <a:ext cx="2743200" cy="1028701"/>
          </a:xfrm>
          <a:prstGeom prst="rect">
            <a:avLst/>
          </a:prstGeom>
          <a:solidFill>
            <a:srgbClr val="FEF3C7"/>
          </a:solidFill>
          <a:ln w="6350">
            <a:solidFill>
              <a:srgbClr val="E7E5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3" name="Text 20"/>
          <p:cNvSpPr txBox="1"/>
          <p:nvPr/>
        </p:nvSpPr>
        <p:spPr>
          <a:xfrm>
            <a:off x="8778240" y="532002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1917"/>
                </a:solidFill>
              </a:defRPr>
            </a:lvl1pPr>
          </a:lstStyle>
          <a:p>
            <a:pPr/>
            <a:r>
              <a:t>React + Express</a:t>
            </a:r>
          </a:p>
        </p:txBody>
      </p:sp>
      <p:sp>
        <p:nvSpPr>
          <p:cNvPr id="1094" name="Text 21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49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Shape 0"/>
          <p:cNvSpPr/>
          <p:nvPr/>
        </p:nvSpPr>
        <p:spPr>
          <a:xfrm>
            <a:off x="457200" y="365759"/>
            <a:ext cx="411481" cy="411482"/>
          </a:xfrm>
          <a:prstGeom prst="roundRect">
            <a:avLst>
              <a:gd name="adj" fmla="val 17778"/>
            </a:avLst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7" name="Text 1"/>
          <p:cNvSpPr txBox="1"/>
          <p:nvPr/>
        </p:nvSpPr>
        <p:spPr>
          <a:xfrm>
            <a:off x="457200" y="469900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098" name="Text 2"/>
          <p:cNvSpPr txBox="1"/>
          <p:nvPr/>
        </p:nvSpPr>
        <p:spPr>
          <a:xfrm>
            <a:off x="960119" y="49979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716C"/>
                </a:solidFill>
              </a:defRPr>
            </a:lvl1pPr>
          </a:lstStyle>
          <a:p>
            <a:pPr/>
            <a:r>
              <a:t>spec-driven workshop</a:t>
            </a:r>
          </a:p>
        </p:txBody>
      </p:sp>
      <p:sp>
        <p:nvSpPr>
          <p:cNvPr id="1099" name="Shape 3"/>
          <p:cNvSpPr/>
          <p:nvPr/>
        </p:nvSpPr>
        <p:spPr>
          <a:xfrm>
            <a:off x="10881359" y="365759"/>
            <a:ext cx="502921" cy="502921"/>
          </a:xfrm>
          <a:prstGeom prst="ellipse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0" name="Text 4"/>
          <p:cNvSpPr txBox="1"/>
          <p:nvPr/>
        </p:nvSpPr>
        <p:spPr>
          <a:xfrm>
            <a:off x="10881359" y="509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1101" name="Text 5"/>
          <p:cNvSpPr txBox="1"/>
          <p:nvPr/>
        </p:nvSpPr>
        <p:spPr>
          <a:xfrm>
            <a:off x="640080" y="107586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67C00"/>
                </a:solidFill>
              </a:defRPr>
            </a:lvl1pPr>
          </a:lstStyle>
          <a:p>
            <a:pPr/>
            <a:r>
              <a:t>DEV</a:t>
            </a:r>
          </a:p>
        </p:txBody>
      </p:sp>
      <p:sp>
        <p:nvSpPr>
          <p:cNvPr id="1102" name="Text 6"/>
          <p:cNvSpPr txBox="1"/>
          <p:nvPr/>
        </p:nvSpPr>
        <p:spPr>
          <a:xfrm>
            <a:off x="640080" y="1559560"/>
            <a:ext cx="68580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50" sz="28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Monitor de Velocidade de Internet com Histórico</a:t>
            </a:r>
          </a:p>
        </p:txBody>
      </p:sp>
      <p:sp>
        <p:nvSpPr>
          <p:cNvPr id="1103" name="Text 7"/>
          <p:cNvSpPr txBox="1"/>
          <p:nvPr/>
        </p:nvSpPr>
        <p:spPr>
          <a:xfrm>
            <a:off x="640080" y="2745740"/>
            <a:ext cx="18288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4A017"/>
                </a:solidFill>
              </a:defRPr>
            </a:lvl1pPr>
          </a:lstStyle>
          <a:p>
            <a:pPr/>
            <a:r>
              <a:t>★★★</a:t>
            </a:r>
          </a:p>
        </p:txBody>
      </p:sp>
      <p:sp>
        <p:nvSpPr>
          <p:cNvPr id="1104" name="Text 8"/>
          <p:cNvSpPr txBox="1"/>
          <p:nvPr/>
        </p:nvSpPr>
        <p:spPr>
          <a:xfrm>
            <a:off x="640080" y="4042980"/>
            <a:ext cx="6858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44403C"/>
                </a:solidFill>
              </a:defRPr>
            </a:lvl1pPr>
          </a:lstStyle>
          <a:p>
            <a:pPr/>
            <a:r>
              <a:t>Roda testes de velocidade periodicamente (ping, download, upload) e guarda histórico. Gráfico das últimas 24h e uptime/médias por operadora.</a:t>
            </a:r>
          </a:p>
        </p:txBody>
      </p:sp>
      <p:sp>
        <p:nvSpPr>
          <p:cNvPr id="1105" name="Shape 9"/>
          <p:cNvSpPr/>
          <p:nvPr/>
        </p:nvSpPr>
        <p:spPr>
          <a:xfrm>
            <a:off x="640080" y="5577840"/>
            <a:ext cx="6858001" cy="640081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6" name="Text 10"/>
          <p:cNvSpPr txBox="1"/>
          <p:nvPr/>
        </p:nvSpPr>
        <p:spPr>
          <a:xfrm>
            <a:off x="822960" y="5697219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67C00"/>
                </a:solidFill>
              </a:defRPr>
            </a:lvl1pPr>
          </a:lstStyle>
          <a:p>
            <a:pPr/>
            <a:r>
              <a:t>DADOS</a:t>
            </a:r>
          </a:p>
        </p:txBody>
      </p:sp>
      <p:sp>
        <p:nvSpPr>
          <p:cNvPr id="1107" name="Text 11"/>
          <p:cNvSpPr txBox="1"/>
          <p:nvPr/>
        </p:nvSpPr>
        <p:spPr>
          <a:xfrm>
            <a:off x="822959" y="5923279"/>
            <a:ext cx="6492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speedtest + sqlite</a:t>
            </a:r>
          </a:p>
        </p:txBody>
      </p:sp>
      <p:sp>
        <p:nvSpPr>
          <p:cNvPr id="1108" name="Shape 12"/>
          <p:cNvSpPr/>
          <p:nvPr/>
        </p:nvSpPr>
        <p:spPr>
          <a:xfrm>
            <a:off x="7955280" y="1325880"/>
            <a:ext cx="3657601" cy="4846321"/>
          </a:xfrm>
          <a:prstGeom prst="rect">
            <a:avLst/>
          </a:prstGeom>
          <a:solidFill>
            <a:srgbClr val="FFFFFF"/>
          </a:solidFill>
          <a:ln>
            <a:solidFill>
              <a:srgbClr val="E7E5E4"/>
            </a:solidFill>
          </a:ln>
          <a:effectLst>
            <a:outerShdw sx="100000" sy="100000" kx="0" ky="0" algn="b" rotWithShape="0" blurRad="101600" dist="25400" dir="5400000">
              <a:srgbClr val="1C1917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9" name="Text 13"/>
          <p:cNvSpPr txBox="1"/>
          <p:nvPr/>
        </p:nvSpPr>
        <p:spPr>
          <a:xfrm>
            <a:off x="8138159" y="1533066"/>
            <a:ext cx="3291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C1917"/>
                </a:solidFill>
              </a:defRPr>
            </a:lvl1pPr>
          </a:lstStyle>
          <a:p>
            <a:pPr/>
            <a:r>
              <a:t>Velocidade últimas 24h</a:t>
            </a:r>
          </a:p>
        </p:txBody>
      </p:sp>
      <p:sp>
        <p:nvSpPr>
          <p:cNvPr id="1110" name="Shape 14"/>
          <p:cNvSpPr/>
          <p:nvPr/>
        </p:nvSpPr>
        <p:spPr>
          <a:xfrm>
            <a:off x="8138159" y="3374135"/>
            <a:ext cx="411481" cy="749809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1" name="Shape 15"/>
          <p:cNvSpPr/>
          <p:nvPr/>
        </p:nvSpPr>
        <p:spPr>
          <a:xfrm>
            <a:off x="8549640" y="2999232"/>
            <a:ext cx="411481" cy="1124713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2" name="Shape 16"/>
          <p:cNvSpPr/>
          <p:nvPr/>
        </p:nvSpPr>
        <p:spPr>
          <a:xfrm>
            <a:off x="8961120" y="2999232"/>
            <a:ext cx="411481" cy="562357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3" name="Shape 17"/>
          <p:cNvSpPr/>
          <p:nvPr/>
        </p:nvSpPr>
        <p:spPr>
          <a:xfrm>
            <a:off x="9372599" y="3186683"/>
            <a:ext cx="411481" cy="374905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4" name="Shape 18"/>
          <p:cNvSpPr/>
          <p:nvPr/>
        </p:nvSpPr>
        <p:spPr>
          <a:xfrm>
            <a:off x="9784079" y="3186683"/>
            <a:ext cx="411481" cy="749810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5" name="Shape 19"/>
          <p:cNvSpPr/>
          <p:nvPr/>
        </p:nvSpPr>
        <p:spPr>
          <a:xfrm>
            <a:off x="10195560" y="2999231"/>
            <a:ext cx="411480" cy="937261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6" name="Shape 20"/>
          <p:cNvSpPr/>
          <p:nvPr/>
        </p:nvSpPr>
        <p:spPr>
          <a:xfrm>
            <a:off x="10607040" y="2999231"/>
            <a:ext cx="411481" cy="374906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7" name="Shape 21"/>
          <p:cNvSpPr/>
          <p:nvPr/>
        </p:nvSpPr>
        <p:spPr>
          <a:xfrm>
            <a:off x="11018520" y="2811779"/>
            <a:ext cx="411481" cy="562357"/>
          </a:xfrm>
          <a:prstGeom prst="line">
            <a:avLst/>
          </a:prstGeom>
          <a:ln w="317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8" name="Shape 22"/>
          <p:cNvSpPr/>
          <p:nvPr/>
        </p:nvSpPr>
        <p:spPr>
          <a:xfrm>
            <a:off x="11365992" y="2747772"/>
            <a:ext cx="128017" cy="12801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9" name="Text 23"/>
          <p:cNvSpPr txBox="1"/>
          <p:nvPr/>
        </p:nvSpPr>
        <p:spPr>
          <a:xfrm>
            <a:off x="8138159" y="5744209"/>
            <a:ext cx="32918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12.3 Mbps avg</a:t>
            </a:r>
          </a:p>
        </p:txBody>
      </p:sp>
      <p:sp>
        <p:nvSpPr>
          <p:cNvPr id="1120" name="Text 24"/>
          <p:cNvSpPr txBox="1"/>
          <p:nvPr/>
        </p:nvSpPr>
        <p:spPr>
          <a:xfrm>
            <a:off x="11064240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2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50 / 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Shape 0"/>
          <p:cNvSpPr/>
          <p:nvPr/>
        </p:nvSpPr>
        <p:spPr>
          <a:xfrm>
            <a:off x="640080" y="640080"/>
            <a:ext cx="411481" cy="41148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3" name="Text 1"/>
          <p:cNvSpPr txBox="1"/>
          <p:nvPr/>
        </p:nvSpPr>
        <p:spPr>
          <a:xfrm>
            <a:off x="640080" y="737869"/>
            <a:ext cx="4114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C19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HM.</a:t>
            </a:r>
          </a:p>
        </p:txBody>
      </p:sp>
      <p:sp>
        <p:nvSpPr>
          <p:cNvPr id="1124" name="Text 2"/>
          <p:cNvSpPr txBox="1"/>
          <p:nvPr/>
        </p:nvSpPr>
        <p:spPr>
          <a:xfrm>
            <a:off x="640080" y="1703070"/>
            <a:ext cx="109728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Bom trabalho.</a:t>
            </a:r>
          </a:p>
        </p:txBody>
      </p:sp>
      <p:sp>
        <p:nvSpPr>
          <p:cNvPr id="1125" name="Text 3"/>
          <p:cNvSpPr txBox="1"/>
          <p:nvPr/>
        </p:nvSpPr>
        <p:spPr>
          <a:xfrm>
            <a:off x="640080" y="2677160"/>
            <a:ext cx="109728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800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Agora é a tua vez.</a:t>
            </a:r>
          </a:p>
        </p:txBody>
      </p:sp>
      <p:sp>
        <p:nvSpPr>
          <p:cNvPr id="1126" name="Text 4"/>
          <p:cNvSpPr txBox="1"/>
          <p:nvPr/>
        </p:nvSpPr>
        <p:spPr>
          <a:xfrm>
            <a:off x="640080" y="3472881"/>
            <a:ext cx="109728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EF3C7"/>
                </a:solidFill>
              </a:defRPr>
            </a:lvl1pPr>
          </a:lstStyle>
          <a:p>
            <a:pPr/>
            <a:r>
              <a:t>Escolhe um dos 40 projectos. Escreve o spec-kit. Liga o agente (veja o próximo vídeo)</a:t>
            </a:r>
          </a:p>
        </p:txBody>
      </p:sp>
      <p:sp>
        <p:nvSpPr>
          <p:cNvPr id="1127" name="Shape 5"/>
          <p:cNvSpPr/>
          <p:nvPr/>
        </p:nvSpPr>
        <p:spPr>
          <a:xfrm>
            <a:off x="640079" y="4114800"/>
            <a:ext cx="3566161" cy="1554481"/>
          </a:xfrm>
          <a:prstGeom prst="rect">
            <a:avLst/>
          </a:prstGeom>
          <a:solidFill>
            <a:srgbClr val="1C1917"/>
          </a:solidFill>
          <a:ln w="190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8" name="Text 6"/>
          <p:cNvSpPr txBox="1"/>
          <p:nvPr/>
        </p:nvSpPr>
        <p:spPr>
          <a:xfrm>
            <a:off x="822959" y="4306569"/>
            <a:ext cx="3291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GITHUB</a:t>
            </a:r>
          </a:p>
        </p:txBody>
      </p:sp>
      <p:sp>
        <p:nvSpPr>
          <p:cNvPr id="1129" name="Text 7"/>
          <p:cNvSpPr txBox="1"/>
          <p:nvPr/>
        </p:nvSpPr>
        <p:spPr>
          <a:xfrm>
            <a:off x="822959" y="4660200"/>
            <a:ext cx="3291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Specs, skills, dados, mocks</a:t>
            </a:r>
          </a:p>
        </p:txBody>
      </p:sp>
      <p:sp>
        <p:nvSpPr>
          <p:cNvPr id="1130" name="Text 8"/>
          <p:cNvSpPr txBox="1"/>
          <p:nvPr/>
        </p:nvSpPr>
        <p:spPr>
          <a:xfrm>
            <a:off x="822959" y="5220970"/>
            <a:ext cx="3291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nsolas"/>
                <a:ea typeface="Consolas"/>
                <a:cs typeface="Consolas"/>
                <a:sym typeface="Consolas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FEF3C7"/>
                </a:solidFill>
                <a:uFillTx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github.com/heldernoid/SDD-workshop-moz</a:t>
            </a:r>
          </a:p>
        </p:txBody>
      </p:sp>
      <p:sp>
        <p:nvSpPr>
          <p:cNvPr id="1131" name="Shape 9"/>
          <p:cNvSpPr/>
          <p:nvPr/>
        </p:nvSpPr>
        <p:spPr>
          <a:xfrm>
            <a:off x="4480559" y="4114800"/>
            <a:ext cx="3566160" cy="1554481"/>
          </a:xfrm>
          <a:prstGeom prst="rect">
            <a:avLst/>
          </a:prstGeom>
          <a:solidFill>
            <a:srgbClr val="1C1917"/>
          </a:solidFill>
          <a:ln w="190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2" name="Text 10"/>
          <p:cNvSpPr txBox="1"/>
          <p:nvPr/>
        </p:nvSpPr>
        <p:spPr>
          <a:xfrm>
            <a:off x="4663440" y="4306569"/>
            <a:ext cx="32918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WHATSAPP</a:t>
            </a:r>
          </a:p>
        </p:txBody>
      </p:sp>
      <p:sp>
        <p:nvSpPr>
          <p:cNvPr id="1133" name="Text 11"/>
          <p:cNvSpPr txBox="1"/>
          <p:nvPr/>
        </p:nvSpPr>
        <p:spPr>
          <a:xfrm>
            <a:off x="4663440" y="4660200"/>
            <a:ext cx="3291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Comunidade e dúvidas</a:t>
            </a:r>
          </a:p>
        </p:txBody>
      </p:sp>
      <p:sp>
        <p:nvSpPr>
          <p:cNvPr id="1134" name="Text 12"/>
          <p:cNvSpPr txBox="1"/>
          <p:nvPr/>
        </p:nvSpPr>
        <p:spPr>
          <a:xfrm>
            <a:off x="4663440" y="5220970"/>
            <a:ext cx="32918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EF3C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Link partilhado no vídeo</a:t>
            </a:r>
          </a:p>
        </p:txBody>
      </p:sp>
      <p:sp>
        <p:nvSpPr>
          <p:cNvPr id="1135" name="Shape 13"/>
          <p:cNvSpPr/>
          <p:nvPr/>
        </p:nvSpPr>
        <p:spPr>
          <a:xfrm>
            <a:off x="8321040" y="4114800"/>
            <a:ext cx="3566160" cy="1554481"/>
          </a:xfrm>
          <a:prstGeom prst="rect">
            <a:avLst/>
          </a:prstGeom>
          <a:solidFill>
            <a:srgbClr val="1C1917"/>
          </a:solidFill>
          <a:ln w="1905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6" name="Text 14"/>
          <p:cNvSpPr txBox="1"/>
          <p:nvPr/>
        </p:nvSpPr>
        <p:spPr>
          <a:xfrm>
            <a:off x="8503919" y="4306569"/>
            <a:ext cx="32918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D4A01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RECURSOS</a:t>
            </a:r>
          </a:p>
        </p:txBody>
      </p:sp>
      <p:sp>
        <p:nvSpPr>
          <p:cNvPr id="1137" name="Text 15"/>
          <p:cNvSpPr txBox="1"/>
          <p:nvPr/>
        </p:nvSpPr>
        <p:spPr>
          <a:xfrm>
            <a:off x="8503919" y="4660200"/>
            <a:ext cx="3291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API key e LlamaCPP partilhados</a:t>
            </a:r>
          </a:p>
        </p:txBody>
      </p:sp>
      <p:sp>
        <p:nvSpPr>
          <p:cNvPr id="1138" name="Text 16"/>
          <p:cNvSpPr txBox="1"/>
          <p:nvPr/>
        </p:nvSpPr>
        <p:spPr>
          <a:xfrm>
            <a:off x="8503919" y="5220970"/>
            <a:ext cx="32918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EF3C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Anunciados no grupo</a:t>
            </a:r>
          </a:p>
        </p:txBody>
      </p:sp>
      <p:sp>
        <p:nvSpPr>
          <p:cNvPr id="1139" name="Text 17"/>
          <p:cNvSpPr txBox="1"/>
          <p:nvPr/>
        </p:nvSpPr>
        <p:spPr>
          <a:xfrm>
            <a:off x="640080" y="6096000"/>
            <a:ext cx="10972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8716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Material aberto. Licenças mistas — ver LICENSE no repositório.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